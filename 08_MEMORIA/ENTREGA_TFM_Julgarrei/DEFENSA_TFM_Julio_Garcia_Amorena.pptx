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2A067-154B-4B23-B67B-407680078B70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34097-4155-42EC-98CD-B5D9663D19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59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30 s. Presentar el objeto del TFM y acotar desde el inicio: evaluación en laboratorio Windows de nueve técnicas. Fuente: portada y resumen de TFM.docx.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4664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50 s. Motivar el paso de prevención a detección host-based. Diferenciar HIDS, EDR y DFIR y aclarar que el TFM no clasifica Velociraptor como EDR completo. Fuente: TFM.docx, resumen y 3.1.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044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50 s. Leer el objetivo y agrupar RQ1-RQ6: detección, rendimiento y comparación. Subrayar que la cobertura se mide por técnicas únicas, no por volumen de filas o alertas. Fuente: TFM.docx, párrafos RQ1-RQ6.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630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55 s. Describir la VM Windows 10 y la arquitectura lógica cliente-servidor; ambos componentes se ejecutan en la misma VM. Enumerar Velociraptor 0.75.6, Sysmon 15.15 y PowerShell 4104. Fuente: TFM.docx, capítulo IV.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249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60 s. Recorrer la tabla por bloques: ejecución/persistencia/discovery y cerrar con TEC-007, TEC-008 y TEC-009. Explicar que TEC-009 combina staging, archivado y transferencia HTTP controlada. Fuente: Excel de análisis, hoja 02_Tecnicas.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7422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60 s. Explicar el runner global, ventanas, evidencia y runner de falsos positivos. Esta diapositiva es la clave metodológica: visibilidad, detección, alerta, evidencia y salida externa son capas distintas. Fuente: TFM.docx y Excel de análisis.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4179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55 s. Comparar artifacts públicos y P1-P4. P3 cubre 9/9; los perfiles se complementan. El Router es SERVER_EVENT de transporte: JSONL y Discord no detectan. 379 son filas CLIENT_EVENT, no incidentes únicos. Fuente: Excel de análisis, hoja 05_Artifacts.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4963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65 s. Presentar 9/9 como el resultado principal. Describir el volumen por perfiles: P1 19, P2 118, P3 109 y P4 133. Aclarar que los perfiles se solapan y que 379 filas no son 379 alertas únicas. Fuente: Dashboard y 05_Artifacts del Excel de análisis.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6525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60 s. Mostrar que las seis campañas fueron positivas en visibilidad. Solo Hayabusa CH aporta detección específica 3/9. ETW produjo telemetría, pero no atribución específica a TEC. TrackNetwork aporta contexto de conexión y no es un NIDS. Fuente: Excel de análisis, 05_Artifacts.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5309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70 s. Explicar 9/9 runs válidos y las tres repeticiones. Dar CPU media 0,95 %, pico 54 %, RAM cercana a 57 MB y duraciones. SERVER_GUI está excluido; RunnerStillRunningAtEnd es WARN no bloqueante. Fuente: Excel de benchmark.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409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60 s. Comparar por técnicas únicas: Wazuh base 3/9, custom 4/9, unión complementaria 7/9 y Velociraptor custom 9/9. Velociraptor requiere más configuración, pero su modelo de artifacts ofrece flexibilidad. No equiparar volúmenes. Fuente: Excel de análisis y TFM.docx.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30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60 s. Responder directamente: Velociraptor puede aproximarse a un HIDS si se diseñan artifacts adecuados. Recordar telemetría pública, 9/9 custom y coste observado. Cerrar con límites y futuro. Fuente: conclusiones de TFM.docx y hojas de resultados/limitaciones de los Excel.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34097-4155-42EC-98CD-B5D9663D19FE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826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0CBF1-0A62-6C47-7EA1-90E55B5C3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A8F3DA-34E4-044E-2828-24B6520CB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07028-C450-E5E2-19D2-DB08EE8C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BF809-54CE-613A-4F7B-1F0AC4F4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412BDD-377A-0F0A-9723-9F54BDF7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782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4CFF1-AFE2-8FAE-4640-74DBAAD6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B928A-4372-ABE9-7D0D-53EAA8FC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77B14-A33E-56EF-D8D2-C2BE5D20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3E60C-8F01-2029-284D-6C5BAC47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7727F7-1FC1-48EC-423A-263C6A48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97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5044C-D08A-664F-5374-1EC874CA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68CC3-31C7-816A-C823-F694B3822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7BB089-707E-7E67-3801-4558097C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34C50-B153-3594-DA36-AEDFC67C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E2CC2D-C690-9C57-B63B-7752B150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2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36C2D-78F9-0AED-3C13-2B7682E6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08946-3BC0-E285-27B9-67A0C11E1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668551-310E-C3EB-B567-5EB2BE268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E82D44-248D-70BA-7741-1D35362F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0AAB11-848C-CEA5-99DE-D61E2E98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906432-B2E8-106A-653C-25133A98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887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BF4D4-DF99-9AB8-DEE7-404B5F98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BC0C29-46A3-973B-E324-027C10E55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9E93C9-7DB6-A2DA-4363-B265526CA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AC3EF2-5831-164F-DB78-D12EE7A52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FB9E5A8-47D9-C0CD-436B-D114D98C4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92A6E1-5FCE-FFEC-C779-F893D85A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F2D34E-1ADD-5A04-05DC-909EC6ED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FA6C3B-33BC-B9C0-5F84-220380C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13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DCB04-3C84-FFE4-96E1-1B794176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BBFC77-1D86-875D-5342-18055A92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3C2271-30E8-0858-3C01-E082170C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2F0A32-DEB5-DCD9-AEA9-D06FEDBA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05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AC1DD09-8FFA-F112-F851-F44E8B46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B82009-86E2-2FE4-D0FE-380039E3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535A85-2FB3-D99D-981B-1B0B8968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68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2D509-E252-A4B8-157C-9D3F3B5B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3CCED-97F2-B605-3FD4-723419225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3BF2AB-FDAB-C5B5-30E6-AB9E990E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C48993-472E-DCCC-1ABB-D75A6A5C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1ACDD-599F-B798-351B-1AFB9670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4CE8E4-25CA-743B-C89C-04D76F85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32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35A44-F166-3EAA-3853-6D66E9CE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68DBCA-382F-C9B2-431B-F612FDDE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22A894-96FE-345F-F57E-B658BA4CC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352512-DAC3-2741-872A-F3ADBFAE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60271-EBF6-C93B-3AA3-7A5C7681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F179A-23FC-81DE-5ACB-3FD76088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68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220CA-7116-0F16-29A8-D4D0B2BB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FF5E60-F5BC-7869-83BB-195D806C3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88A210-B594-CBEA-1FC9-D81BDBA1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F3E3E8-4CBB-1926-871B-3A834E7C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3BD50-F2C3-DB38-3C54-B1B71CE8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813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F285EB-2F08-4602-6E21-07D18CA34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69309F-6230-A89C-F2C9-58BF2D555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6B5F65-D361-560C-2E19-6C1C77C5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2BEB0-25F0-6131-9C86-6E76E0BB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D7707A-384F-0632-3843-D41BA650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674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D9B538-0FB9-5D42-CB25-B8541FC4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4BF6E1-E880-C099-4115-2AD8E4875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D10F8-82D6-16C6-76F1-53AF3A1C1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6E153-D4FE-47B5-B9D2-F960F73033A6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F84ECC-237D-970D-13E0-8CC03AF9A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63442-9F97-7AFF-B097-53DB1760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68F7F-1A66-45AC-BCDF-7E86718E49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96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8B1AB6-64D5-5644-E531-163B6D93CD67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6005E0-0B54-D456-9496-A5C2A6EB1D84}"/>
              </a:ext>
            </a:extLst>
          </p:cNvPr>
          <p:cNvSpPr txBox="1"/>
          <p:nvPr/>
        </p:nvSpPr>
        <p:spPr>
          <a:xfrm>
            <a:off x="711200" y="6858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TRABAJO FIN DE MÁSTER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D3868A-F937-89D7-FA8E-DE6678D88D86}"/>
              </a:ext>
            </a:extLst>
          </p:cNvPr>
          <p:cNvSpPr txBox="1"/>
          <p:nvPr/>
        </p:nvSpPr>
        <p:spPr>
          <a:xfrm>
            <a:off x="711200" y="1104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700" b="1">
                <a:solidFill>
                  <a:srgbClr val="F3F7F9"/>
                </a:solidFill>
                <a:latin typeface="Aptos Display" panose="020B0004020202020204" pitchFamily="34" charset="0"/>
              </a:rPr>
              <a:t>Evaluación de Velociraptor
como HIDS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C78DCF-DCD6-97E8-D2BF-B9B9F904F94A}"/>
              </a:ext>
            </a:extLst>
          </p:cNvPr>
          <p:cNvSpPr txBox="1"/>
          <p:nvPr/>
        </p:nvSpPr>
        <p:spPr>
          <a:xfrm>
            <a:off x="711200" y="26543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>
                <a:solidFill>
                  <a:srgbClr val="AFC2CC"/>
                </a:solidFill>
                <a:latin typeface="Aptos" panose="020B0004020202020204" pitchFamily="34" charset="0"/>
              </a:rPr>
              <a:t>para la detección de técnicas MITRE ATT&amp;CK Enterprise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B1ED6EF-6A5F-9E4A-AC40-682C15B75A25}"/>
              </a:ext>
            </a:extLst>
          </p:cNvPr>
          <p:cNvSpPr/>
          <p:nvPr/>
        </p:nvSpPr>
        <p:spPr>
          <a:xfrm>
            <a:off x="711200" y="3657600"/>
            <a:ext cx="1320800" cy="3556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FB4505-9202-1954-657D-01324304B590}"/>
              </a:ext>
            </a:extLst>
          </p:cNvPr>
          <p:cNvSpPr txBox="1"/>
          <p:nvPr/>
        </p:nvSpPr>
        <p:spPr>
          <a:xfrm>
            <a:off x="711200" y="3657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9 TÉCNICAS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3BA949A-2A68-D351-0E3C-CB037C179B7A}"/>
              </a:ext>
            </a:extLst>
          </p:cNvPr>
          <p:cNvSpPr/>
          <p:nvPr/>
        </p:nvSpPr>
        <p:spPr>
          <a:xfrm>
            <a:off x="2159000" y="3657600"/>
            <a:ext cx="1498600" cy="3556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7D0BF0-8FCB-3885-A86D-9FE2B7F041F2}"/>
              </a:ext>
            </a:extLst>
          </p:cNvPr>
          <p:cNvSpPr txBox="1"/>
          <p:nvPr/>
        </p:nvSpPr>
        <p:spPr>
          <a:xfrm>
            <a:off x="2159000" y="36576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3 ESCENARIOS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3E89595-E2FE-B324-14A9-5E5AD38C43FA}"/>
              </a:ext>
            </a:extLst>
          </p:cNvPr>
          <p:cNvSpPr/>
          <p:nvPr/>
        </p:nvSpPr>
        <p:spPr>
          <a:xfrm>
            <a:off x="3784600" y="3657600"/>
            <a:ext cx="1371600" cy="3556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8576F3-AF89-781B-1C34-81955693808C}"/>
              </a:ext>
            </a:extLst>
          </p:cNvPr>
          <p:cNvSpPr txBox="1"/>
          <p:nvPr/>
        </p:nvSpPr>
        <p:spPr>
          <a:xfrm>
            <a:off x="3784600" y="365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WINDOWS 10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B567F3-F0BE-8AA9-4D0B-15890AE957C9}"/>
              </a:ext>
            </a:extLst>
          </p:cNvPr>
          <p:cNvSpPr txBox="1"/>
          <p:nvPr/>
        </p:nvSpPr>
        <p:spPr>
          <a:xfrm>
            <a:off x="711200" y="4546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400" b="1">
                <a:solidFill>
                  <a:srgbClr val="F3F7F9"/>
                </a:solidFill>
                <a:latin typeface="Aptos" panose="020B0004020202020204" pitchFamily="34" charset="0"/>
              </a:rPr>
              <a:t>Julio García-Amorena Reina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26D5A2-E806-8B8A-E4BE-14E704CBE963}"/>
              </a:ext>
            </a:extLst>
          </p:cNvPr>
          <p:cNvSpPr txBox="1"/>
          <p:nvPr/>
        </p:nvSpPr>
        <p:spPr>
          <a:xfrm>
            <a:off x="711200" y="4876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Tutor · Francisco Javier Muñoz Calle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7D1BCB5-2043-6DA6-27CD-995779536601}"/>
              </a:ext>
            </a:extLst>
          </p:cNvPr>
          <p:cNvSpPr txBox="1"/>
          <p:nvPr/>
        </p:nvSpPr>
        <p:spPr>
          <a:xfrm>
            <a:off x="711200" y="52959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50">
                <a:solidFill>
                  <a:srgbClr val="AFC2CC"/>
                </a:solidFill>
                <a:latin typeface="Aptos" panose="020B0004020202020204" pitchFamily="34" charset="0"/>
              </a:rPr>
              <a:t>Máster en Seguridad en Tecnologías de la Información y las Comunicaciones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A196D58-2620-06C2-3A84-4E0982F94837}"/>
              </a:ext>
            </a:extLst>
          </p:cNvPr>
          <p:cNvSpPr txBox="1"/>
          <p:nvPr/>
        </p:nvSpPr>
        <p:spPr>
          <a:xfrm>
            <a:off x="711200" y="55753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50">
                <a:solidFill>
                  <a:srgbClr val="AFC2CC"/>
                </a:solidFill>
                <a:latin typeface="Aptos" panose="020B0004020202020204" pitchFamily="34" charset="0"/>
              </a:rPr>
              <a:t>Escuela Técnica Superior de Ingeniería · Universidad de Sevilla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EAC1082-941C-8782-E2E6-8E457E8754A9}"/>
              </a:ext>
            </a:extLst>
          </p:cNvPr>
          <p:cNvSpPr txBox="1"/>
          <p:nvPr/>
        </p:nvSpPr>
        <p:spPr>
          <a:xfrm>
            <a:off x="711200" y="6032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6F8794"/>
                </a:solidFill>
                <a:latin typeface="Aptos" panose="020B0004020202020204" pitchFamily="34" charset="0"/>
              </a:rPr>
              <a:t>Sevilla · 2026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D9F20CE-CF0A-545C-3E96-6646F417ED5D}"/>
              </a:ext>
            </a:extLst>
          </p:cNvPr>
          <p:cNvSpPr/>
          <p:nvPr/>
        </p:nvSpPr>
        <p:spPr>
          <a:xfrm>
            <a:off x="8216900" y="1244600"/>
            <a:ext cx="2794000" cy="2794000"/>
          </a:xfrm>
          <a:prstGeom prst="ellipse">
            <a:avLst/>
          </a:prstGeom>
          <a:solidFill>
            <a:srgbClr val="071826">
              <a:alpha val="0"/>
            </a:srgbClr>
          </a:solidFill>
          <a:ln w="1651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EAC530E-4B5D-7B5A-0A99-5B2C3E4A7807}"/>
              </a:ext>
            </a:extLst>
          </p:cNvPr>
          <p:cNvSpPr/>
          <p:nvPr/>
        </p:nvSpPr>
        <p:spPr>
          <a:xfrm>
            <a:off x="8559800" y="1587500"/>
            <a:ext cx="2108200" cy="2108200"/>
          </a:xfrm>
          <a:prstGeom prst="ellipse">
            <a:avLst/>
          </a:prstGeom>
          <a:solidFill>
            <a:srgbClr val="071826">
              <a:alpha val="0"/>
            </a:srgbClr>
          </a:solidFill>
          <a:ln w="3175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7D7D78C-99D9-2617-9BB7-4B0ACB1890DD}"/>
              </a:ext>
            </a:extLst>
          </p:cNvPr>
          <p:cNvSpPr/>
          <p:nvPr/>
        </p:nvSpPr>
        <p:spPr>
          <a:xfrm>
            <a:off x="9055100" y="2082800"/>
            <a:ext cx="1117600" cy="1117600"/>
          </a:xfrm>
          <a:prstGeom prst="ellipse">
            <a:avLst/>
          </a:prstGeom>
          <a:solidFill>
            <a:srgbClr val="102A3B"/>
          </a:solidFill>
          <a:ln w="16510">
            <a:solidFill>
              <a:srgbClr val="1BA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3165D47-6B73-6D05-0C07-AD35C8ECFD5F}"/>
              </a:ext>
            </a:extLst>
          </p:cNvPr>
          <p:cNvSpPr txBox="1"/>
          <p:nvPr/>
        </p:nvSpPr>
        <p:spPr>
          <a:xfrm>
            <a:off x="9055100" y="22987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b="1">
                <a:solidFill>
                  <a:srgbClr val="F3F7F9"/>
                </a:solidFill>
                <a:latin typeface="Bahnschrift SemiBold" panose="020B0502040204020203" pitchFamily="34" charset="0"/>
              </a:rPr>
              <a:t>HIDS
/ DFIR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A3E843F-D6E5-6F01-C504-936D76D34C31}"/>
              </a:ext>
            </a:extLst>
          </p:cNvPr>
          <p:cNvSpPr/>
          <p:nvPr/>
        </p:nvSpPr>
        <p:spPr>
          <a:xfrm>
            <a:off x="8089900" y="2463800"/>
            <a:ext cx="660400" cy="660400"/>
          </a:xfrm>
          <a:prstGeom prst="ellipse">
            <a:avLst/>
          </a:prstGeom>
          <a:solidFill>
            <a:srgbClr val="17384B"/>
          </a:solidFill>
          <a:ln w="1651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76D25A0-217A-3AD8-19EF-6168A4606B5E}"/>
              </a:ext>
            </a:extLst>
          </p:cNvPr>
          <p:cNvSpPr txBox="1"/>
          <p:nvPr/>
        </p:nvSpPr>
        <p:spPr>
          <a:xfrm>
            <a:off x="8089900" y="26670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HOST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B80C232-E732-0902-8CD4-692E4B24B583}"/>
              </a:ext>
            </a:extLst>
          </p:cNvPr>
          <p:cNvSpPr/>
          <p:nvPr/>
        </p:nvSpPr>
        <p:spPr>
          <a:xfrm>
            <a:off x="10045700" y="1092200"/>
            <a:ext cx="660400" cy="660400"/>
          </a:xfrm>
          <a:prstGeom prst="ellipse">
            <a:avLst/>
          </a:prstGeom>
          <a:solidFill>
            <a:srgbClr val="17384B"/>
          </a:solidFill>
          <a:ln w="1651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1515F1-3E9C-6D21-95F5-D52806CD6CD2}"/>
              </a:ext>
            </a:extLst>
          </p:cNvPr>
          <p:cNvSpPr txBox="1"/>
          <p:nvPr/>
        </p:nvSpPr>
        <p:spPr>
          <a:xfrm>
            <a:off x="10045700" y="1295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VQL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4508D63-BE37-5F83-7586-E55542297CEF}"/>
              </a:ext>
            </a:extLst>
          </p:cNvPr>
          <p:cNvSpPr/>
          <p:nvPr/>
        </p:nvSpPr>
        <p:spPr>
          <a:xfrm>
            <a:off x="10604500" y="3429000"/>
            <a:ext cx="660400" cy="660400"/>
          </a:xfrm>
          <a:prstGeom prst="ellipse">
            <a:avLst/>
          </a:prstGeom>
          <a:solidFill>
            <a:srgbClr val="17384B"/>
          </a:solidFill>
          <a:ln w="1651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8DFC6F3-05C9-F748-1149-D46167AB7E83}"/>
              </a:ext>
            </a:extLst>
          </p:cNvPr>
          <p:cNvSpPr txBox="1"/>
          <p:nvPr/>
        </p:nvSpPr>
        <p:spPr>
          <a:xfrm>
            <a:off x="10604500" y="3632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RT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51F4A43-5DA5-1414-D18E-FC5B854673F2}"/>
              </a:ext>
            </a:extLst>
          </p:cNvPr>
          <p:cNvSpPr/>
          <p:nvPr/>
        </p:nvSpPr>
        <p:spPr>
          <a:xfrm>
            <a:off x="8445500" y="4279900"/>
            <a:ext cx="660400" cy="660400"/>
          </a:xfrm>
          <a:prstGeom prst="ellipse">
            <a:avLst/>
          </a:prstGeom>
          <a:solidFill>
            <a:srgbClr val="17384B"/>
          </a:solidFill>
          <a:ln w="1651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3F8C5A3-6E36-2EC8-23FD-CE8B685C2829}"/>
              </a:ext>
            </a:extLst>
          </p:cNvPr>
          <p:cNvSpPr txBox="1"/>
          <p:nvPr/>
        </p:nvSpPr>
        <p:spPr>
          <a:xfrm>
            <a:off x="8445500" y="44831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EVID.</a:t>
            </a:r>
          </a:p>
        </p:txBody>
      </p:sp>
    </p:spTree>
    <p:extLst>
      <p:ext uri="{BB962C8B-B14F-4D97-AF65-F5344CB8AC3E}">
        <p14:creationId xmlns:p14="http://schemas.microsoft.com/office/powerpoint/2010/main" val="141997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E10A26-64AC-6B4C-AE44-81F2176BA6F1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03E5F9-BC68-5894-E2FA-DB513DBD341A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Prevenir reduce el riesgo; detectar explica lo que ocurre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AFC20EE-1F5A-F91B-F196-B36C13B9CFFE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1DF2C8F-D125-70BF-0B89-0E4C057182C2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92B325-FA2D-8F45-D571-F91368DCD5C8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TFM.docx · Resumen y capítulo 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CDBA69-C533-07AF-D6A9-E2141A4549C0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334F76-E813-3726-1BBA-B8ECBBD439A1}"/>
              </a:ext>
            </a:extLst>
          </p:cNvPr>
          <p:cNvSpPr txBox="1"/>
          <p:nvPr/>
        </p:nvSpPr>
        <p:spPr>
          <a:xfrm>
            <a:off x="609600" y="14224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200" b="1">
                <a:solidFill>
                  <a:srgbClr val="F3F7F9"/>
                </a:solidFill>
                <a:latin typeface="Aptos Display" panose="020B0004020202020204" pitchFamily="34" charset="0"/>
              </a:rPr>
              <a:t>Los controles perimetrales pueden ser superados. La actividad decisiva ocurre en el endpoint.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22BD3C7-77C1-C682-3EE0-8FB283C3D77A}"/>
              </a:ext>
            </a:extLst>
          </p:cNvPr>
          <p:cNvSpPr/>
          <p:nvPr/>
        </p:nvSpPr>
        <p:spPr>
          <a:xfrm>
            <a:off x="9194800" y="1473200"/>
            <a:ext cx="2387600" cy="330200"/>
          </a:xfrm>
          <a:prstGeom prst="round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EA6916-AF61-827A-6323-145858B77A32}"/>
              </a:ext>
            </a:extLst>
          </p:cNvPr>
          <p:cNvSpPr txBox="1"/>
          <p:nvPr/>
        </p:nvSpPr>
        <p:spPr>
          <a:xfrm>
            <a:off x="9194800" y="14732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Aptos" panose="020B0004020202020204" pitchFamily="34" charset="0"/>
              </a:rPr>
              <a:t>SUPUESTO DE TRABAJO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01A0378-AC42-4337-19C1-7E69CDA27387}"/>
              </a:ext>
            </a:extLst>
          </p:cNvPr>
          <p:cNvSpPr/>
          <p:nvPr/>
        </p:nvSpPr>
        <p:spPr>
          <a:xfrm>
            <a:off x="609600" y="2489200"/>
            <a:ext cx="3149600" cy="2311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3AF7DCA-E02B-8288-EA9A-2467EF228187}"/>
              </a:ext>
            </a:extLst>
          </p:cNvPr>
          <p:cNvSpPr/>
          <p:nvPr/>
        </p:nvSpPr>
        <p:spPr>
          <a:xfrm>
            <a:off x="838200" y="2717800"/>
            <a:ext cx="482600" cy="482600"/>
          </a:xfrm>
          <a:prstGeom prst="ellipse">
            <a:avLst/>
          </a:prstGeom>
          <a:solidFill>
            <a:srgbClr val="6F87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9AF79F-59EE-998A-2DBF-D5D9DCC6E9A6}"/>
              </a:ext>
            </a:extLst>
          </p:cNvPr>
          <p:cNvSpPr txBox="1"/>
          <p:nvPr/>
        </p:nvSpPr>
        <p:spPr>
          <a:xfrm>
            <a:off x="838200" y="2857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071826"/>
                </a:solidFill>
                <a:latin typeface="Bahnschrift" panose="020B0502040204020203" pitchFamily="34" charset="0"/>
              </a:rPr>
              <a:t>01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4AEFC4-DD92-1383-917F-449FBC57105F}"/>
              </a:ext>
            </a:extLst>
          </p:cNvPr>
          <p:cNvSpPr txBox="1"/>
          <p:nvPr/>
        </p:nvSpPr>
        <p:spPr>
          <a:xfrm>
            <a:off x="1498600" y="2730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6F8794"/>
                </a:solidFill>
                <a:latin typeface="Aptos" panose="020B0004020202020204" pitchFamily="34" charset="0"/>
              </a:rPr>
              <a:t>PREVENCIÓN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3D73D3-92C5-4FD2-04E2-3AFD8CD1F1A9}"/>
              </a:ext>
            </a:extLst>
          </p:cNvPr>
          <p:cNvSpPr txBox="1"/>
          <p:nvPr/>
        </p:nvSpPr>
        <p:spPr>
          <a:xfrm>
            <a:off x="838200" y="33909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900" b="1">
                <a:solidFill>
                  <a:srgbClr val="F3F7F9"/>
                </a:solidFill>
                <a:latin typeface="Aptos Display" panose="020B0004020202020204" pitchFamily="34" charset="0"/>
              </a:rPr>
              <a:t>Reducir superficie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B33F4F-2B21-6C1F-F0C9-F7DDF11C7CF5}"/>
              </a:ext>
            </a:extLst>
          </p:cNvPr>
          <p:cNvSpPr txBox="1"/>
          <p:nvPr/>
        </p:nvSpPr>
        <p:spPr>
          <a:xfrm>
            <a:off x="8382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Bloqueo, hardening y control de acceso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EA85415-C28A-C299-1B00-30D7DFA52327}"/>
              </a:ext>
            </a:extLst>
          </p:cNvPr>
          <p:cNvSpPr/>
          <p:nvPr/>
        </p:nvSpPr>
        <p:spPr>
          <a:xfrm>
            <a:off x="4318000" y="2489200"/>
            <a:ext cx="3149600" cy="2311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5FF7465-31FC-7A38-7516-DBA951E2EB62}"/>
              </a:ext>
            </a:extLst>
          </p:cNvPr>
          <p:cNvSpPr/>
          <p:nvPr/>
        </p:nvSpPr>
        <p:spPr>
          <a:xfrm>
            <a:off x="4546600" y="2717800"/>
            <a:ext cx="482600" cy="4826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7310583-F1F9-8744-FE6C-CD8169AE0627}"/>
              </a:ext>
            </a:extLst>
          </p:cNvPr>
          <p:cNvSpPr txBox="1"/>
          <p:nvPr/>
        </p:nvSpPr>
        <p:spPr>
          <a:xfrm>
            <a:off x="4546600" y="2857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071826"/>
                </a:solidFill>
                <a:latin typeface="Bahnschrift" panose="020B0502040204020203" pitchFamily="34" charset="0"/>
              </a:rPr>
              <a:t>02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A0241EC-C808-62C1-F47A-4F120FB5959C}"/>
              </a:ext>
            </a:extLst>
          </p:cNvPr>
          <p:cNvSpPr txBox="1"/>
          <p:nvPr/>
        </p:nvSpPr>
        <p:spPr>
          <a:xfrm>
            <a:off x="5207000" y="2730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VISIBILIDAD HOST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047B07-FC38-73D1-B061-98028E23F2B5}"/>
              </a:ext>
            </a:extLst>
          </p:cNvPr>
          <p:cNvSpPr txBox="1"/>
          <p:nvPr/>
        </p:nvSpPr>
        <p:spPr>
          <a:xfrm>
            <a:off x="4546600" y="33909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900" b="1">
                <a:solidFill>
                  <a:srgbClr val="F3F7F9"/>
                </a:solidFill>
                <a:latin typeface="Aptos Display" panose="020B0004020202020204" pitchFamily="34" charset="0"/>
              </a:rPr>
              <a:t>Ver la ejecución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0444BD7-60E5-777C-B4BA-69BB6B4A2873}"/>
              </a:ext>
            </a:extLst>
          </p:cNvPr>
          <p:cNvSpPr txBox="1"/>
          <p:nvPr/>
        </p:nvSpPr>
        <p:spPr>
          <a:xfrm>
            <a:off x="45466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Procesos, eventos, registro y ficheros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3CE9F86-D7C4-2B63-AE29-1F939CC9A1CF}"/>
              </a:ext>
            </a:extLst>
          </p:cNvPr>
          <p:cNvSpPr/>
          <p:nvPr/>
        </p:nvSpPr>
        <p:spPr>
          <a:xfrm>
            <a:off x="8026400" y="2489200"/>
            <a:ext cx="3149600" cy="2311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2F24D6C-A5DE-984F-4EEA-35DEB5EAD77F}"/>
              </a:ext>
            </a:extLst>
          </p:cNvPr>
          <p:cNvSpPr/>
          <p:nvPr/>
        </p:nvSpPr>
        <p:spPr>
          <a:xfrm>
            <a:off x="8255000" y="2717800"/>
            <a:ext cx="482600" cy="4826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77947F3-4FF6-1644-484D-943C14E8FA52}"/>
              </a:ext>
            </a:extLst>
          </p:cNvPr>
          <p:cNvSpPr txBox="1"/>
          <p:nvPr/>
        </p:nvSpPr>
        <p:spPr>
          <a:xfrm>
            <a:off x="8255000" y="2857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071826"/>
                </a:solidFill>
                <a:latin typeface="Bahnschrift" panose="020B0502040204020203" pitchFamily="34" charset="0"/>
              </a:rPr>
              <a:t>03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0E07956-AEF5-127F-5EA2-5B5C93BD830B}"/>
              </a:ext>
            </a:extLst>
          </p:cNvPr>
          <p:cNvSpPr txBox="1"/>
          <p:nvPr/>
        </p:nvSpPr>
        <p:spPr>
          <a:xfrm>
            <a:off x="8915400" y="2730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FF9B54"/>
                </a:solidFill>
                <a:latin typeface="Aptos" panose="020B0004020202020204" pitchFamily="34" charset="0"/>
              </a:rPr>
              <a:t>RESPUESTA / DFIR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422301-8714-CB89-E91B-CFF8D92ECD41}"/>
              </a:ext>
            </a:extLst>
          </p:cNvPr>
          <p:cNvSpPr txBox="1"/>
          <p:nvPr/>
        </p:nvSpPr>
        <p:spPr>
          <a:xfrm>
            <a:off x="8255000" y="33909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900" b="1">
                <a:solidFill>
                  <a:srgbClr val="F3F7F9"/>
                </a:solidFill>
                <a:latin typeface="Aptos Display" panose="020B0004020202020204" pitchFamily="34" charset="0"/>
              </a:rPr>
              <a:t>Explicar y actuar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CDED15A-F1C5-DE7C-1CFF-7374E000C7E3}"/>
              </a:ext>
            </a:extLst>
          </p:cNvPr>
          <p:cNvSpPr txBox="1"/>
          <p:nvPr/>
        </p:nvSpPr>
        <p:spPr>
          <a:xfrm>
            <a:off x="82550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Evidencia, contexto y reconstrucción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3B99B71-DC82-9E9C-5BA4-2C716A7D6305}"/>
              </a:ext>
            </a:extLst>
          </p:cNvPr>
          <p:cNvCxnSpPr/>
          <p:nvPr/>
        </p:nvCxnSpPr>
        <p:spPr>
          <a:xfrm>
            <a:off x="3759200" y="3644900"/>
            <a:ext cx="431800" cy="0"/>
          </a:xfrm>
          <a:prstGeom prst="line">
            <a:avLst/>
          </a:prstGeom>
          <a:ln w="2540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4543B27-3A5F-12C9-FE3B-D89394CED114}"/>
              </a:ext>
            </a:extLst>
          </p:cNvPr>
          <p:cNvCxnSpPr/>
          <p:nvPr/>
        </p:nvCxnSpPr>
        <p:spPr>
          <a:xfrm>
            <a:off x="7467600" y="3644900"/>
            <a:ext cx="431800" cy="0"/>
          </a:xfrm>
          <a:prstGeom prst="line">
            <a:avLst/>
          </a:prstGeom>
          <a:ln w="25400">
            <a:solidFill>
              <a:srgbClr val="FF9B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911EF158-8DC2-F160-50F2-8C6473F58589}"/>
              </a:ext>
            </a:extLst>
          </p:cNvPr>
          <p:cNvSpPr/>
          <p:nvPr/>
        </p:nvSpPr>
        <p:spPr>
          <a:xfrm>
            <a:off x="609600" y="5207000"/>
            <a:ext cx="10566400" cy="8636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935283-6E32-2EFD-1D13-80D2507B3879}"/>
              </a:ext>
            </a:extLst>
          </p:cNvPr>
          <p:cNvSpPr txBox="1"/>
          <p:nvPr/>
        </p:nvSpPr>
        <p:spPr>
          <a:xfrm>
            <a:off x="838200" y="5410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ALCANCE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C3625A2-7699-1E63-0B73-93CEC2F9FB4E}"/>
              </a:ext>
            </a:extLst>
          </p:cNvPr>
          <p:cNvSpPr txBox="1"/>
          <p:nvPr/>
        </p:nvSpPr>
        <p:spPr>
          <a:xfrm>
            <a:off x="1955800" y="5334000"/>
            <a:ext cx="894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500" b="1">
                <a:solidFill>
                  <a:srgbClr val="F3F7F9"/>
                </a:solidFill>
                <a:latin typeface="Aptos" panose="020B0004020202020204" pitchFamily="34" charset="0"/>
              </a:rPr>
              <a:t>Velociraptor se evalúa como plataforma HIDS/DFIR configurable; no se presenta como un EDR completo.</a:t>
            </a:r>
          </a:p>
        </p:txBody>
      </p:sp>
    </p:spTree>
    <p:extLst>
      <p:ext uri="{BB962C8B-B14F-4D97-AF65-F5344CB8AC3E}">
        <p14:creationId xmlns:p14="http://schemas.microsoft.com/office/powerpoint/2010/main" val="71228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18EB29-A6BA-4002-89CE-F6180F2ECF0F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OBJETIVOS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108449-3E93-02A9-F676-0AA4DFD72A0F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Seis preguntas, tres ejes de evaluación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CCC53C7-F6D1-37A7-8BA2-281E76C0D9E7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D750346-DDDC-5370-0506-ECF7DEC05FE6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182EB6-84D4-D91A-1E92-FAA57D2900C8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TFM.docx · Objetivo principal y RQ1-RQ6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958089-BFB8-319F-654E-10E353E4A98A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4C8956F-1C09-6BBA-E8F6-36CF503CE6EC}"/>
              </a:ext>
            </a:extLst>
          </p:cNvPr>
          <p:cNvSpPr/>
          <p:nvPr/>
        </p:nvSpPr>
        <p:spPr>
          <a:xfrm>
            <a:off x="609600" y="1422400"/>
            <a:ext cx="10972800" cy="9906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6900E32-BDDB-76F1-F5AE-6853AC562064}"/>
              </a:ext>
            </a:extLst>
          </p:cNvPr>
          <p:cNvSpPr txBox="1"/>
          <p:nvPr/>
        </p:nvSpPr>
        <p:spPr>
          <a:xfrm>
            <a:off x="838200" y="1625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OBJETIVO PRINCIPAL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4A2D8C-8942-B1CB-D084-57DB30AB2AAF}"/>
              </a:ext>
            </a:extLst>
          </p:cNvPr>
          <p:cNvSpPr txBox="1"/>
          <p:nvPr/>
        </p:nvSpPr>
        <p:spPr>
          <a:xfrm>
            <a:off x="2768600" y="15367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b="1">
                <a:solidFill>
                  <a:srgbClr val="F3F7F9"/>
                </a:solidFill>
                <a:latin typeface="Aptos Display" panose="020B0004020202020204" pitchFamily="34" charset="0"/>
              </a:rPr>
              <a:t>Evaluar si Velociraptor detecta un subconjunto acotado de técnicas MITRE ATT&amp;CK a nivel de host.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3BDC659-5FB5-59CF-272C-BDFC704DE816}"/>
              </a:ext>
            </a:extLst>
          </p:cNvPr>
          <p:cNvSpPr/>
          <p:nvPr/>
        </p:nvSpPr>
        <p:spPr>
          <a:xfrm>
            <a:off x="609600" y="2768600"/>
            <a:ext cx="5257800" cy="2997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998AAB6-AE8F-CE77-C189-CF2557C801D6}"/>
              </a:ext>
            </a:extLst>
          </p:cNvPr>
          <p:cNvSpPr/>
          <p:nvPr/>
        </p:nvSpPr>
        <p:spPr>
          <a:xfrm>
            <a:off x="609600" y="2768600"/>
            <a:ext cx="5257800" cy="88900"/>
          </a:xfrm>
          <a:prstGeom prst="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D7C416-5966-2368-1CCC-B53053016CCA}"/>
              </a:ext>
            </a:extLst>
          </p:cNvPr>
          <p:cNvSpPr txBox="1"/>
          <p:nvPr/>
        </p:nvSpPr>
        <p:spPr>
          <a:xfrm>
            <a:off x="838200" y="311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35D0BA"/>
                </a:solidFill>
                <a:latin typeface="Bahnschrift SemiBold" panose="020B0502040204020203" pitchFamily="34" charset="0"/>
              </a:rPr>
              <a:t>4 RQ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DABBAE1-C1F2-FBAA-2AFB-91F93062FF78}"/>
              </a:ext>
            </a:extLst>
          </p:cNvPr>
          <p:cNvSpPr txBox="1"/>
          <p:nvPr/>
        </p:nvSpPr>
        <p:spPr>
          <a:xfrm>
            <a:off x="838200" y="37084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DETECCIÓN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A94354-64E7-605D-0409-0E28C3568E48}"/>
              </a:ext>
            </a:extLst>
          </p:cNvPr>
          <p:cNvCxnSpPr/>
          <p:nvPr/>
        </p:nvCxnSpPr>
        <p:spPr>
          <a:xfrm>
            <a:off x="838200" y="4102100"/>
            <a:ext cx="48006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A54C169-878E-FF24-DCED-D57B9D4D53B0}"/>
              </a:ext>
            </a:extLst>
          </p:cNvPr>
          <p:cNvSpPr txBox="1"/>
          <p:nvPr/>
        </p:nvSpPr>
        <p:spPr>
          <a:xfrm>
            <a:off x="838200" y="4368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F3F7F9"/>
                </a:solidFill>
                <a:latin typeface="Aptos" panose="020B0004020202020204" pitchFamily="34" charset="0"/>
              </a:rPr>
              <a:t>RQ1 · Cobertura custom  |  RQ2 · Artifacts públicos</a:t>
            </a:r>
          </a:p>
          <a:p>
            <a:r>
              <a:rPr lang="pt-BR" sz="1250">
                <a:solidFill>
                  <a:srgbClr val="F3F7F9"/>
                </a:solidFill>
                <a:latin typeface="Aptos" panose="020B0004020202020204" pitchFamily="34" charset="0"/>
              </a:rPr>
              <a:t>RQ4 · Arquitectura P1-P4  |  RQ5 · Calidad / FP</a:t>
            </a:r>
            <a:endParaRPr lang="es-ES" sz="1250">
              <a:solidFill>
                <a:srgbClr val="F3F7F9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29140BC-F4A8-A246-CE5A-543FA6661020}"/>
              </a:ext>
            </a:extLst>
          </p:cNvPr>
          <p:cNvSpPr/>
          <p:nvPr/>
        </p:nvSpPr>
        <p:spPr>
          <a:xfrm>
            <a:off x="6172200" y="2768600"/>
            <a:ext cx="2565400" cy="2997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E0BE0D9-37A4-F2F1-AFE7-D508C05B7ECB}"/>
              </a:ext>
            </a:extLst>
          </p:cNvPr>
          <p:cNvSpPr/>
          <p:nvPr/>
        </p:nvSpPr>
        <p:spPr>
          <a:xfrm>
            <a:off x="6172200" y="2768600"/>
            <a:ext cx="2565400" cy="88900"/>
          </a:xfrm>
          <a:prstGeom prst="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F698ED0-06D6-ECE3-CA7F-510A51D2D4D4}"/>
              </a:ext>
            </a:extLst>
          </p:cNvPr>
          <p:cNvSpPr txBox="1"/>
          <p:nvPr/>
        </p:nvSpPr>
        <p:spPr>
          <a:xfrm>
            <a:off x="6400800" y="31115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F9B54"/>
                </a:solidFill>
                <a:latin typeface="Bahnschrift SemiBold" panose="020B0502040204020203" pitchFamily="34" charset="0"/>
              </a:rPr>
              <a:t>1 RQ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F1DAF80-493F-37AE-4884-34361A52AC7D}"/>
              </a:ext>
            </a:extLst>
          </p:cNvPr>
          <p:cNvSpPr txBox="1"/>
          <p:nvPr/>
        </p:nvSpPr>
        <p:spPr>
          <a:xfrm>
            <a:off x="6400800" y="37084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RENDIMIENTO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7973730-C601-248E-F471-EE2872529FDA}"/>
              </a:ext>
            </a:extLst>
          </p:cNvPr>
          <p:cNvCxnSpPr/>
          <p:nvPr/>
        </p:nvCxnSpPr>
        <p:spPr>
          <a:xfrm>
            <a:off x="6400800" y="4102100"/>
            <a:ext cx="21082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88A31A3-0DF5-17C2-9462-1268FA8B5E0B}"/>
              </a:ext>
            </a:extLst>
          </p:cNvPr>
          <p:cNvSpPr txBox="1"/>
          <p:nvPr/>
        </p:nvSpPr>
        <p:spPr>
          <a:xfrm>
            <a:off x="6400800" y="4368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F3F7F9"/>
                </a:solidFill>
                <a:latin typeface="Aptos" panose="020B0004020202020204" pitchFamily="34" charset="0"/>
              </a:rPr>
              <a:t>RQ3</a:t>
            </a:r>
          </a:p>
          <a:p>
            <a:r>
              <a:rPr lang="es-ES" sz="1250">
                <a:solidFill>
                  <a:srgbClr val="F3F7F9"/>
                </a:solidFill>
                <a:latin typeface="Aptos" panose="020B0004020202020204" pitchFamily="34" charset="0"/>
              </a:rPr>
              <a:t>CPU · RAM · duración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58E895F-E818-82DE-50A1-96CBE40A15D9}"/>
              </a:ext>
            </a:extLst>
          </p:cNvPr>
          <p:cNvSpPr/>
          <p:nvPr/>
        </p:nvSpPr>
        <p:spPr>
          <a:xfrm>
            <a:off x="9042400" y="2768600"/>
            <a:ext cx="2540000" cy="2997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24D372D-11EF-7695-1F42-7171BBF7A0F3}"/>
              </a:ext>
            </a:extLst>
          </p:cNvPr>
          <p:cNvSpPr/>
          <p:nvPr/>
        </p:nvSpPr>
        <p:spPr>
          <a:xfrm>
            <a:off x="9042400" y="2768600"/>
            <a:ext cx="2540000" cy="88900"/>
          </a:xfrm>
          <a:prstGeom prst="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42D09D2-B156-0B89-8CF8-4D3C370566A4}"/>
              </a:ext>
            </a:extLst>
          </p:cNvPr>
          <p:cNvSpPr txBox="1"/>
          <p:nvPr/>
        </p:nvSpPr>
        <p:spPr>
          <a:xfrm>
            <a:off x="9271000" y="31115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E24A4A"/>
                </a:solidFill>
                <a:latin typeface="Bahnschrift SemiBold" panose="020B0502040204020203" pitchFamily="34" charset="0"/>
              </a:rPr>
              <a:t>1 RQ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264290B-CD02-384F-B7F7-8A998EC5BC22}"/>
              </a:ext>
            </a:extLst>
          </p:cNvPr>
          <p:cNvSpPr txBox="1"/>
          <p:nvPr/>
        </p:nvSpPr>
        <p:spPr>
          <a:xfrm>
            <a:off x="9271000" y="3708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COMPARACIÓN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2E92B1-ED74-2C16-4A68-B537AB3F1AB1}"/>
              </a:ext>
            </a:extLst>
          </p:cNvPr>
          <p:cNvCxnSpPr/>
          <p:nvPr/>
        </p:nvCxnSpPr>
        <p:spPr>
          <a:xfrm>
            <a:off x="9271000" y="4102100"/>
            <a:ext cx="208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77BE897-2CB6-DC9F-FAC0-2A49FAD76057}"/>
              </a:ext>
            </a:extLst>
          </p:cNvPr>
          <p:cNvSpPr txBox="1"/>
          <p:nvPr/>
        </p:nvSpPr>
        <p:spPr>
          <a:xfrm>
            <a:off x="9271000" y="43688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F3F7F9"/>
                </a:solidFill>
                <a:latin typeface="Aptos" panose="020B0004020202020204" pitchFamily="34" charset="0"/>
              </a:rPr>
              <a:t>RQ6</a:t>
            </a:r>
          </a:p>
          <a:p>
            <a:r>
              <a:rPr lang="es-ES" sz="1250">
                <a:solidFill>
                  <a:srgbClr val="F3F7F9"/>
                </a:solidFill>
                <a:latin typeface="Aptos" panose="020B0004020202020204" pitchFamily="34" charset="0"/>
              </a:rPr>
              <a:t>Velociraptor ↔ Wazuh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8375CC3-3A3F-16FE-21E8-301369176C70}"/>
              </a:ext>
            </a:extLst>
          </p:cNvPr>
          <p:cNvSpPr txBox="1"/>
          <p:nvPr/>
        </p:nvSpPr>
        <p:spPr>
          <a:xfrm>
            <a:off x="609600" y="60198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AFC2CC"/>
                </a:solidFill>
                <a:latin typeface="Aptos" panose="020B0004020202020204" pitchFamily="34" charset="0"/>
              </a:rPr>
              <a:t>Unidad de cobertura: técnica TEC única detectada · No volumen de eventos</a:t>
            </a:r>
          </a:p>
        </p:txBody>
      </p:sp>
    </p:spTree>
    <p:extLst>
      <p:ext uri="{BB962C8B-B14F-4D97-AF65-F5344CB8AC3E}">
        <p14:creationId xmlns:p14="http://schemas.microsoft.com/office/powerpoint/2010/main" val="3787067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2FABBF-961A-7ED6-57E7-5B229A5E91E8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ENTORNO EXPERIMENTAL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CEDC50-D0C6-5F13-A0CF-F5CAED4F724A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Una VM Windows instrumentada, con arquitectura cliente-servidor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4DAC320-6D4F-9B69-A853-C424954CAAA9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E2F2352-DD56-FE50-93A5-5243751FABA8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AD2664-723E-2AE1-66DA-CCBE2655C44B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TFM.docx · Capítulo IV y tabla de software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63A39C-7FA5-6F96-AF15-C5530FC924C0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0487EFC-57C2-F9ED-8573-CE8D0E23DE14}"/>
              </a:ext>
            </a:extLst>
          </p:cNvPr>
          <p:cNvSpPr/>
          <p:nvPr/>
        </p:nvSpPr>
        <p:spPr>
          <a:xfrm>
            <a:off x="609600" y="1447800"/>
            <a:ext cx="6959600" cy="44958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3E75177-BC3B-1A65-509C-BCA3AA30CD99}"/>
              </a:ext>
            </a:extLst>
          </p:cNvPr>
          <p:cNvSpPr/>
          <p:nvPr/>
        </p:nvSpPr>
        <p:spPr>
          <a:xfrm>
            <a:off x="838200" y="1676400"/>
            <a:ext cx="1676400" cy="3302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BC4CEA-4BD4-687E-891D-8A25CC6FD389}"/>
              </a:ext>
            </a:extLst>
          </p:cNvPr>
          <p:cNvSpPr txBox="1"/>
          <p:nvPr/>
        </p:nvSpPr>
        <p:spPr>
          <a:xfrm>
            <a:off x="838200" y="1676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VM WINDOWS 10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814B79-1AD3-D2CA-E51D-09258F9DF2FA}"/>
              </a:ext>
            </a:extLst>
          </p:cNvPr>
          <p:cNvSpPr txBox="1"/>
          <p:nvPr/>
        </p:nvSpPr>
        <p:spPr>
          <a:xfrm>
            <a:off x="2717800" y="1727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>
                <a:solidFill>
                  <a:srgbClr val="AFC2CC"/>
                </a:solidFill>
                <a:latin typeface="Aptos" panose="020B0004020202020204" pitchFamily="34" charset="0"/>
              </a:rPr>
              <a:t>Servidor y cliente en la misma VM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A6A60EA-E29A-D119-1C86-27CA75603D61}"/>
              </a:ext>
            </a:extLst>
          </p:cNvPr>
          <p:cNvSpPr/>
          <p:nvPr/>
        </p:nvSpPr>
        <p:spPr>
          <a:xfrm>
            <a:off x="990600" y="2514600"/>
            <a:ext cx="2616200" cy="2057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3691E7F-DA99-C7F5-0745-BE3779B16910}"/>
              </a:ext>
            </a:extLst>
          </p:cNvPr>
          <p:cNvSpPr txBox="1"/>
          <p:nvPr/>
        </p:nvSpPr>
        <p:spPr>
          <a:xfrm>
            <a:off x="1219200" y="2768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SERVIDOR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7D0BA4B-73F5-C2EC-C53F-985D14713699}"/>
              </a:ext>
            </a:extLst>
          </p:cNvPr>
          <p:cNvSpPr txBox="1"/>
          <p:nvPr/>
        </p:nvSpPr>
        <p:spPr>
          <a:xfrm>
            <a:off x="12192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200" b="1">
                <a:solidFill>
                  <a:srgbClr val="F3F7F9"/>
                </a:solidFill>
                <a:latin typeface="Bahnschrift SemiBold" panose="020B0502040204020203" pitchFamily="34" charset="0"/>
              </a:rPr>
              <a:t>Velociraptor
0.75.6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A26FF6-0A98-F8B3-FA2A-1F3EEF21A6C8}"/>
              </a:ext>
            </a:extLst>
          </p:cNvPr>
          <p:cNvSpPr txBox="1"/>
          <p:nvPr/>
        </p:nvSpPr>
        <p:spPr>
          <a:xfrm>
            <a:off x="1219200" y="4140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>
                <a:solidFill>
                  <a:srgbClr val="AFC2CC"/>
                </a:solidFill>
                <a:latin typeface="Aptos" panose="020B0004020202020204" pitchFamily="34" charset="0"/>
              </a:rPr>
              <a:t>GUI · frontend · datastore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1CF299F-95EA-217D-78C6-9C0CCB3D45BC}"/>
              </a:ext>
            </a:extLst>
          </p:cNvPr>
          <p:cNvSpPr/>
          <p:nvPr/>
        </p:nvSpPr>
        <p:spPr>
          <a:xfrm>
            <a:off x="4572000" y="2514600"/>
            <a:ext cx="2616200" cy="2057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3F57B0-185A-31B7-D95B-241D1FD08D77}"/>
              </a:ext>
            </a:extLst>
          </p:cNvPr>
          <p:cNvSpPr txBox="1"/>
          <p:nvPr/>
        </p:nvSpPr>
        <p:spPr>
          <a:xfrm>
            <a:off x="4800600" y="2768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CLIENTE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8482523-21E1-552A-E320-A96CA95109ED}"/>
              </a:ext>
            </a:extLst>
          </p:cNvPr>
          <p:cNvSpPr txBox="1"/>
          <p:nvPr/>
        </p:nvSpPr>
        <p:spPr>
          <a:xfrm>
            <a:off x="48006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 b="1">
                <a:solidFill>
                  <a:srgbClr val="F3F7F9"/>
                </a:solidFill>
                <a:latin typeface="Bahnschrift SemiBold" panose="020B0502040204020203" pitchFamily="34" charset="0"/>
              </a:rPr>
              <a:t>Artifacts VQL
CLIENT_EVENT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5C0467E-ACF2-F5A3-27D8-75B842EE4A7E}"/>
              </a:ext>
            </a:extLst>
          </p:cNvPr>
          <p:cNvSpPr txBox="1"/>
          <p:nvPr/>
        </p:nvSpPr>
        <p:spPr>
          <a:xfrm>
            <a:off x="4800600" y="4140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>
                <a:solidFill>
                  <a:srgbClr val="AFC2CC"/>
                </a:solidFill>
                <a:latin typeface="Aptos" panose="020B0004020202020204" pitchFamily="34" charset="0"/>
              </a:rPr>
              <a:t>Monitorización host-based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42B0948-797A-328C-61D8-7BD4C3411F26}"/>
              </a:ext>
            </a:extLst>
          </p:cNvPr>
          <p:cNvCxnSpPr/>
          <p:nvPr/>
        </p:nvCxnSpPr>
        <p:spPr>
          <a:xfrm>
            <a:off x="3657600" y="3530600"/>
            <a:ext cx="787400" cy="0"/>
          </a:xfrm>
          <a:prstGeom prst="line">
            <a:avLst/>
          </a:prstGeom>
          <a:ln w="3175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6B933FC-CE34-6CC0-138C-A9D6D708F4FC}"/>
              </a:ext>
            </a:extLst>
          </p:cNvPr>
          <p:cNvSpPr txBox="1"/>
          <p:nvPr/>
        </p:nvSpPr>
        <p:spPr>
          <a:xfrm>
            <a:off x="3581400" y="37465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cliente ↔ servidor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85DD91-000A-AC3C-BC4B-D6639D8EA724}"/>
              </a:ext>
            </a:extLst>
          </p:cNvPr>
          <p:cNvSpPr/>
          <p:nvPr/>
        </p:nvSpPr>
        <p:spPr>
          <a:xfrm>
            <a:off x="990600" y="4965700"/>
            <a:ext cx="6197600" cy="6096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D1A307A-BF6E-39B2-2983-47741473FD1C}"/>
              </a:ext>
            </a:extLst>
          </p:cNvPr>
          <p:cNvSpPr txBox="1"/>
          <p:nvPr/>
        </p:nvSpPr>
        <p:spPr>
          <a:xfrm>
            <a:off x="1155700" y="5080000"/>
            <a:ext cx="586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Ejecución controlada · Sin malware real · Datos dummy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0F2AC78-5E89-2898-6541-A9F4B6518432}"/>
              </a:ext>
            </a:extLst>
          </p:cNvPr>
          <p:cNvSpPr/>
          <p:nvPr/>
        </p:nvSpPr>
        <p:spPr>
          <a:xfrm>
            <a:off x="8001000" y="1676400"/>
            <a:ext cx="3581400" cy="838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0E32943-EB87-1148-A2C0-AF8F8FEDA083}"/>
              </a:ext>
            </a:extLst>
          </p:cNvPr>
          <p:cNvSpPr/>
          <p:nvPr/>
        </p:nvSpPr>
        <p:spPr>
          <a:xfrm>
            <a:off x="8001000" y="1676400"/>
            <a:ext cx="63500" cy="838200"/>
          </a:xfrm>
          <a:prstGeom prst="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4F1CD52-9927-3CAE-A59B-3C6CBAEC73F1}"/>
              </a:ext>
            </a:extLst>
          </p:cNvPr>
          <p:cNvSpPr txBox="1"/>
          <p:nvPr/>
        </p:nvSpPr>
        <p:spPr>
          <a:xfrm>
            <a:off x="8229600" y="1816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35D0BA"/>
                </a:solidFill>
                <a:latin typeface="Aptos" panose="020B0004020202020204" pitchFamily="34" charset="0"/>
              </a:rPr>
              <a:t>SYSMON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B120C3D-EC0C-8D07-1B2A-D23B5640E6AB}"/>
              </a:ext>
            </a:extLst>
          </p:cNvPr>
          <p:cNvSpPr txBox="1"/>
          <p:nvPr/>
        </p:nvSpPr>
        <p:spPr>
          <a:xfrm>
            <a:off x="8229600" y="2044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F3F7F9"/>
                </a:solidFill>
                <a:latin typeface="Aptos" panose="020B0004020202020204" pitchFamily="34" charset="0"/>
              </a:rPr>
              <a:t>15.15 · schema 4.90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8949E2B-0AF6-2089-C371-2899CA01CECE}"/>
              </a:ext>
            </a:extLst>
          </p:cNvPr>
          <p:cNvSpPr/>
          <p:nvPr/>
        </p:nvSpPr>
        <p:spPr>
          <a:xfrm>
            <a:off x="8001000" y="2768600"/>
            <a:ext cx="3581400" cy="838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E97B194-144E-88C7-749B-4C12A3E47C6B}"/>
              </a:ext>
            </a:extLst>
          </p:cNvPr>
          <p:cNvSpPr/>
          <p:nvPr/>
        </p:nvSpPr>
        <p:spPr>
          <a:xfrm>
            <a:off x="8001000" y="2768600"/>
            <a:ext cx="63500" cy="838200"/>
          </a:xfrm>
          <a:prstGeom prst="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E7DADB-F81D-D647-D44A-3EA688A2D68B}"/>
              </a:ext>
            </a:extLst>
          </p:cNvPr>
          <p:cNvSpPr txBox="1"/>
          <p:nvPr/>
        </p:nvSpPr>
        <p:spPr>
          <a:xfrm>
            <a:off x="8229600" y="2908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FF9B54"/>
                </a:solidFill>
                <a:latin typeface="Aptos" panose="020B0004020202020204" pitchFamily="34" charset="0"/>
              </a:rPr>
              <a:t>POWERSHELL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3A3B6CF-A901-E7EE-0991-C15AF665AA98}"/>
              </a:ext>
            </a:extLst>
          </p:cNvPr>
          <p:cNvSpPr txBox="1"/>
          <p:nvPr/>
        </p:nvSpPr>
        <p:spPr>
          <a:xfrm>
            <a:off x="8229600" y="31369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F3F7F9"/>
                </a:solidFill>
                <a:latin typeface="Aptos" panose="020B0004020202020204" pitchFamily="34" charset="0"/>
              </a:rPr>
              <a:t>Script Block Logging · 4104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2B12A1D6-9B81-B4E3-32CE-CA317D7575F5}"/>
              </a:ext>
            </a:extLst>
          </p:cNvPr>
          <p:cNvSpPr/>
          <p:nvPr/>
        </p:nvSpPr>
        <p:spPr>
          <a:xfrm>
            <a:off x="8001000" y="3860800"/>
            <a:ext cx="3581400" cy="838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6BE9EFF-3B06-F5D5-DB9C-5DFFF79C776D}"/>
              </a:ext>
            </a:extLst>
          </p:cNvPr>
          <p:cNvSpPr/>
          <p:nvPr/>
        </p:nvSpPr>
        <p:spPr>
          <a:xfrm>
            <a:off x="8001000" y="3860800"/>
            <a:ext cx="63500" cy="838200"/>
          </a:xfrm>
          <a:prstGeom prst="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49F9FE9-944C-EA20-CB06-0BA5D8AB5595}"/>
              </a:ext>
            </a:extLst>
          </p:cNvPr>
          <p:cNvSpPr txBox="1"/>
          <p:nvPr/>
        </p:nvSpPr>
        <p:spPr>
          <a:xfrm>
            <a:off x="8229600" y="4000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E24A4A"/>
                </a:solidFill>
                <a:latin typeface="Aptos" panose="020B0004020202020204" pitchFamily="34" charset="0"/>
              </a:rPr>
              <a:t>WINDOWS LOGS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6753290-6211-4AD7-F1CB-C326A6948DAA}"/>
              </a:ext>
            </a:extLst>
          </p:cNvPr>
          <p:cNvSpPr txBox="1"/>
          <p:nvPr/>
        </p:nvSpPr>
        <p:spPr>
          <a:xfrm>
            <a:off x="8229600" y="4229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F3F7F9"/>
                </a:solidFill>
                <a:latin typeface="Aptos" panose="020B0004020202020204" pitchFamily="34" charset="0"/>
              </a:rPr>
              <a:t>System · Security · Sysmon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EB6D004-1A6B-8E7B-F6C9-7EB61F0A126F}"/>
              </a:ext>
            </a:extLst>
          </p:cNvPr>
          <p:cNvSpPr txBox="1"/>
          <p:nvPr/>
        </p:nvSpPr>
        <p:spPr>
          <a:xfrm>
            <a:off x="8001000" y="50546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AFC2CC"/>
                </a:solidFill>
                <a:latin typeface="Aptos" panose="020B0004020202020204" pitchFamily="34" charset="0"/>
              </a:rPr>
              <a:t>Las fuentes determinan la visibilidad disponible para los artifacts.</a:t>
            </a:r>
          </a:p>
        </p:txBody>
      </p:sp>
    </p:spTree>
    <p:extLst>
      <p:ext uri="{BB962C8B-B14F-4D97-AF65-F5344CB8AC3E}">
        <p14:creationId xmlns:p14="http://schemas.microsoft.com/office/powerpoint/2010/main" val="353768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82E9B36-FEF2-E1C3-FF29-6E0812157C4F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COBERTURA EXPERIMENTAL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AF70E1-96C0-5E77-4744-0D0704CE5A2B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Nueve técnicas, de ejecución a impacto y exfiltración controlada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B412BBD-682E-CF32-77B6-7EB8126C8AFA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83B5C2B-1613-F9D2-04E9-7FE69327B616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09E454-CA07-A294-A3EE-E78EC15C5B2B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Analisis_Tecnicas_TFM_Velociraptor.xlsx · 02_Tecnicas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B3497A-3EAB-371A-6F07-777C3D4B5C06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A99D281-EE13-E8A9-6E07-4297315B918D}"/>
              </a:ext>
            </a:extLst>
          </p:cNvPr>
          <p:cNvSpPr/>
          <p:nvPr/>
        </p:nvSpPr>
        <p:spPr>
          <a:xfrm>
            <a:off x="6629400" y="1333500"/>
            <a:ext cx="4953000" cy="304800"/>
          </a:xfrm>
          <a:prstGeom prst="round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A5691A-DD38-66F6-1426-5FEE97BDFC74}"/>
              </a:ext>
            </a:extLst>
          </p:cNvPr>
          <p:cNvSpPr txBox="1"/>
          <p:nvPr/>
        </p:nvSpPr>
        <p:spPr>
          <a:xfrm>
            <a:off x="6629400" y="13335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Aptos" panose="020B0004020202020204" pitchFamily="34" charset="0"/>
              </a:rPr>
              <a:t>TEC-007 · TEC-008 · TEC-009: ESCENARIOS DE MAYOR IMPACTO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8C4D9D-74CA-E6D5-F45A-A76377F1C64C}"/>
              </a:ext>
            </a:extLst>
          </p:cNvPr>
          <p:cNvSpPr/>
          <p:nvPr/>
        </p:nvSpPr>
        <p:spPr>
          <a:xfrm>
            <a:off x="609600" y="1752600"/>
            <a:ext cx="1066800" cy="38100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08D5D1-84E4-42FD-D463-866308B9FA89}"/>
              </a:ext>
            </a:extLst>
          </p:cNvPr>
          <p:cNvSpPr txBox="1"/>
          <p:nvPr/>
        </p:nvSpPr>
        <p:spPr>
          <a:xfrm>
            <a:off x="685800" y="1816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850" b="1">
                <a:solidFill>
                  <a:srgbClr val="F3F7F9"/>
                </a:solidFill>
                <a:latin typeface="Aptos" panose="020B0004020202020204" pitchFamily="34" charset="0"/>
              </a:rPr>
              <a:t>TEC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F2FFF5-0A11-AF34-BAF9-9E2401DA60E1}"/>
              </a:ext>
            </a:extLst>
          </p:cNvPr>
          <p:cNvSpPr/>
          <p:nvPr/>
        </p:nvSpPr>
        <p:spPr>
          <a:xfrm>
            <a:off x="1676400" y="1752600"/>
            <a:ext cx="1676400" cy="38100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986018-87FD-8D65-68A2-576F9A3A5A88}"/>
              </a:ext>
            </a:extLst>
          </p:cNvPr>
          <p:cNvSpPr txBox="1"/>
          <p:nvPr/>
        </p:nvSpPr>
        <p:spPr>
          <a:xfrm>
            <a:off x="1752600" y="18161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850" b="1">
                <a:solidFill>
                  <a:srgbClr val="F3F7F9"/>
                </a:solidFill>
                <a:latin typeface="Aptos" panose="020B0004020202020204" pitchFamily="34" charset="0"/>
              </a:rPr>
              <a:t>MITRE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56E1B9C-24E2-C8BE-9AE0-D5B77326EDCB}"/>
              </a:ext>
            </a:extLst>
          </p:cNvPr>
          <p:cNvSpPr/>
          <p:nvPr/>
        </p:nvSpPr>
        <p:spPr>
          <a:xfrm>
            <a:off x="3352800" y="1752600"/>
            <a:ext cx="1841500" cy="38100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F2E5F5-D08D-66BC-BA81-BFF38A8D9A65}"/>
              </a:ext>
            </a:extLst>
          </p:cNvPr>
          <p:cNvSpPr txBox="1"/>
          <p:nvPr/>
        </p:nvSpPr>
        <p:spPr>
          <a:xfrm>
            <a:off x="3429000" y="18161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850" b="1">
                <a:solidFill>
                  <a:srgbClr val="F3F7F9"/>
                </a:solidFill>
                <a:latin typeface="Aptos" panose="020B0004020202020204" pitchFamily="34" charset="0"/>
              </a:rPr>
              <a:t>TÁCTICA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994FDA0-7B82-271C-704D-AB09D7C06638}"/>
              </a:ext>
            </a:extLst>
          </p:cNvPr>
          <p:cNvSpPr/>
          <p:nvPr/>
        </p:nvSpPr>
        <p:spPr>
          <a:xfrm>
            <a:off x="5194300" y="1752600"/>
            <a:ext cx="6388100" cy="38100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3EFBC0-C943-4AE7-D93A-4107F65365E8}"/>
              </a:ext>
            </a:extLst>
          </p:cNvPr>
          <p:cNvSpPr txBox="1"/>
          <p:nvPr/>
        </p:nvSpPr>
        <p:spPr>
          <a:xfrm>
            <a:off x="5270500" y="181610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850" b="1">
                <a:solidFill>
                  <a:srgbClr val="F3F7F9"/>
                </a:solidFill>
                <a:latin typeface="Aptos" panose="020B0004020202020204" pitchFamily="34" charset="0"/>
              </a:rPr>
              <a:t>ESCENARIO CONTROLADO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E3F834-A283-BE13-B3A5-2CD6E39EE466}"/>
              </a:ext>
            </a:extLst>
          </p:cNvPr>
          <p:cNvSpPr/>
          <p:nvPr/>
        </p:nvSpPr>
        <p:spPr>
          <a:xfrm>
            <a:off x="609600" y="213360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5267A8D-6F9B-04B8-E3F6-45538DBBB02A}"/>
              </a:ext>
            </a:extLst>
          </p:cNvPr>
          <p:cNvSpPr txBox="1"/>
          <p:nvPr/>
        </p:nvSpPr>
        <p:spPr>
          <a:xfrm>
            <a:off x="685800" y="2184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AF0387D-C8D6-AF9B-75A1-895A36CFF96B}"/>
              </a:ext>
            </a:extLst>
          </p:cNvPr>
          <p:cNvSpPr/>
          <p:nvPr/>
        </p:nvSpPr>
        <p:spPr>
          <a:xfrm>
            <a:off x="1676400" y="213360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6C3F46D-A298-1A8A-9F5D-F8F7F033CE6D}"/>
              </a:ext>
            </a:extLst>
          </p:cNvPr>
          <p:cNvSpPr txBox="1"/>
          <p:nvPr/>
        </p:nvSpPr>
        <p:spPr>
          <a:xfrm>
            <a:off x="1752600" y="2184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T1059.001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CE9F427-4442-ACA2-A7A7-C58D2F27D8C9}"/>
              </a:ext>
            </a:extLst>
          </p:cNvPr>
          <p:cNvSpPr/>
          <p:nvPr/>
        </p:nvSpPr>
        <p:spPr>
          <a:xfrm>
            <a:off x="3352800" y="213360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1FBE75-D386-BC0B-6086-809708C20F2B}"/>
              </a:ext>
            </a:extLst>
          </p:cNvPr>
          <p:cNvSpPr txBox="1"/>
          <p:nvPr/>
        </p:nvSpPr>
        <p:spPr>
          <a:xfrm>
            <a:off x="3429000" y="21844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30C25E8-F6DB-81B2-1C18-E6EF87404380}"/>
              </a:ext>
            </a:extLst>
          </p:cNvPr>
          <p:cNvSpPr/>
          <p:nvPr/>
        </p:nvSpPr>
        <p:spPr>
          <a:xfrm>
            <a:off x="5194300" y="213360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F9B81CC-0B28-8DC8-2305-7A86BBF735CA}"/>
              </a:ext>
            </a:extLst>
          </p:cNvPr>
          <p:cNvSpPr txBox="1"/>
          <p:nvPr/>
        </p:nvSpPr>
        <p:spPr>
          <a:xfrm>
            <a:off x="5270500" y="218440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PowerShell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226C524-954D-8A4F-CE8A-2D1349416911}"/>
              </a:ext>
            </a:extLst>
          </p:cNvPr>
          <p:cNvSpPr/>
          <p:nvPr/>
        </p:nvSpPr>
        <p:spPr>
          <a:xfrm>
            <a:off x="609600" y="257302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438CBCD-837F-2F5A-0917-BD6B0BA538EC}"/>
              </a:ext>
            </a:extLst>
          </p:cNvPr>
          <p:cNvSpPr txBox="1"/>
          <p:nvPr/>
        </p:nvSpPr>
        <p:spPr>
          <a:xfrm>
            <a:off x="685800" y="262382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TEC-002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98E5A6-B7EA-4921-C50D-21FA88E666A1}"/>
              </a:ext>
            </a:extLst>
          </p:cNvPr>
          <p:cNvSpPr/>
          <p:nvPr/>
        </p:nvSpPr>
        <p:spPr>
          <a:xfrm>
            <a:off x="1676400" y="257302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0CBE17E-B860-281A-7C14-DA052B2B089E}"/>
              </a:ext>
            </a:extLst>
          </p:cNvPr>
          <p:cNvSpPr txBox="1"/>
          <p:nvPr/>
        </p:nvSpPr>
        <p:spPr>
          <a:xfrm>
            <a:off x="1752600" y="262382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T1059.003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11084E9-0242-FDB0-C72A-DCC53AE29E93}"/>
              </a:ext>
            </a:extLst>
          </p:cNvPr>
          <p:cNvSpPr/>
          <p:nvPr/>
        </p:nvSpPr>
        <p:spPr>
          <a:xfrm>
            <a:off x="3352800" y="257302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23A46E9-92DA-E37A-B7B7-498270E881FD}"/>
              </a:ext>
            </a:extLst>
          </p:cNvPr>
          <p:cNvSpPr txBox="1"/>
          <p:nvPr/>
        </p:nvSpPr>
        <p:spPr>
          <a:xfrm>
            <a:off x="3429000" y="262382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CBF47E4-9E44-0D09-97A2-41FD647FCFBA}"/>
              </a:ext>
            </a:extLst>
          </p:cNvPr>
          <p:cNvSpPr/>
          <p:nvPr/>
        </p:nvSpPr>
        <p:spPr>
          <a:xfrm>
            <a:off x="5194300" y="257302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73FDE0B-040E-D3AD-61E8-16614DD3C1B1}"/>
              </a:ext>
            </a:extLst>
          </p:cNvPr>
          <p:cNvSpPr txBox="1"/>
          <p:nvPr/>
        </p:nvSpPr>
        <p:spPr>
          <a:xfrm>
            <a:off x="5270500" y="262382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Windows Command Shell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03097D5-5490-7449-2847-66258EF7D327}"/>
              </a:ext>
            </a:extLst>
          </p:cNvPr>
          <p:cNvSpPr/>
          <p:nvPr/>
        </p:nvSpPr>
        <p:spPr>
          <a:xfrm>
            <a:off x="609600" y="301244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0E4EAB1-6F85-CCD2-AB84-1102A070A2ED}"/>
              </a:ext>
            </a:extLst>
          </p:cNvPr>
          <p:cNvSpPr txBox="1"/>
          <p:nvPr/>
        </p:nvSpPr>
        <p:spPr>
          <a:xfrm>
            <a:off x="685800" y="306324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TEC-003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27076DD-DBA8-82D0-B923-64E4A8480C39}"/>
              </a:ext>
            </a:extLst>
          </p:cNvPr>
          <p:cNvSpPr/>
          <p:nvPr/>
        </p:nvSpPr>
        <p:spPr>
          <a:xfrm>
            <a:off x="1676400" y="301244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6C3E1A3-6DB0-7142-A927-82C09C8DE23E}"/>
              </a:ext>
            </a:extLst>
          </p:cNvPr>
          <p:cNvSpPr txBox="1"/>
          <p:nvPr/>
        </p:nvSpPr>
        <p:spPr>
          <a:xfrm>
            <a:off x="1752600" y="306324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T1053.005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C325F33-7EAA-F8DF-916B-8B5992BC478C}"/>
              </a:ext>
            </a:extLst>
          </p:cNvPr>
          <p:cNvSpPr/>
          <p:nvPr/>
        </p:nvSpPr>
        <p:spPr>
          <a:xfrm>
            <a:off x="3352800" y="301244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870F1C-CF6E-4520-06BC-66870D38DB0D}"/>
              </a:ext>
            </a:extLst>
          </p:cNvPr>
          <p:cNvSpPr txBox="1"/>
          <p:nvPr/>
        </p:nvSpPr>
        <p:spPr>
          <a:xfrm>
            <a:off x="3429000" y="306324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79D9778-BF56-7B01-54F4-D68C8E623070}"/>
              </a:ext>
            </a:extLst>
          </p:cNvPr>
          <p:cNvSpPr/>
          <p:nvPr/>
        </p:nvSpPr>
        <p:spPr>
          <a:xfrm>
            <a:off x="5194300" y="301244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8460ECF-6DEF-E706-F2FA-60C9990591B6}"/>
              </a:ext>
            </a:extLst>
          </p:cNvPr>
          <p:cNvSpPr txBox="1"/>
          <p:nvPr/>
        </p:nvSpPr>
        <p:spPr>
          <a:xfrm>
            <a:off x="5270500" y="306324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Scheduled Task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ED87AF2-410C-55FC-1A2F-94193268AB25}"/>
              </a:ext>
            </a:extLst>
          </p:cNvPr>
          <p:cNvSpPr/>
          <p:nvPr/>
        </p:nvSpPr>
        <p:spPr>
          <a:xfrm>
            <a:off x="609600" y="345186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C4C5848-6EA0-6445-832C-9E28E7E5F6BA}"/>
              </a:ext>
            </a:extLst>
          </p:cNvPr>
          <p:cNvSpPr txBox="1"/>
          <p:nvPr/>
        </p:nvSpPr>
        <p:spPr>
          <a:xfrm>
            <a:off x="685800" y="350266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TEC-004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6843561-9989-2E61-3BC5-C799EAE4BFBC}"/>
              </a:ext>
            </a:extLst>
          </p:cNvPr>
          <p:cNvSpPr/>
          <p:nvPr/>
        </p:nvSpPr>
        <p:spPr>
          <a:xfrm>
            <a:off x="1676400" y="345186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632CEB1-79F2-1E98-3A8A-1A5CE08A3B7F}"/>
              </a:ext>
            </a:extLst>
          </p:cNvPr>
          <p:cNvSpPr txBox="1"/>
          <p:nvPr/>
        </p:nvSpPr>
        <p:spPr>
          <a:xfrm>
            <a:off x="1752600" y="350266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T1547.001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EB86475C-816F-9828-B1D1-301EFD820CE0}"/>
              </a:ext>
            </a:extLst>
          </p:cNvPr>
          <p:cNvSpPr/>
          <p:nvPr/>
        </p:nvSpPr>
        <p:spPr>
          <a:xfrm>
            <a:off x="3352800" y="345186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FD28B01-C8D9-D2AE-FD8E-1BA9976878C9}"/>
              </a:ext>
            </a:extLst>
          </p:cNvPr>
          <p:cNvSpPr txBox="1"/>
          <p:nvPr/>
        </p:nvSpPr>
        <p:spPr>
          <a:xfrm>
            <a:off x="3429000" y="350266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Persistence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C029D01-80E9-2A4E-3ECD-C570446213E4}"/>
              </a:ext>
            </a:extLst>
          </p:cNvPr>
          <p:cNvSpPr/>
          <p:nvPr/>
        </p:nvSpPr>
        <p:spPr>
          <a:xfrm>
            <a:off x="5194300" y="345186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F81CA0B-5A4D-34B9-3755-F56EDD07B204}"/>
              </a:ext>
            </a:extLst>
          </p:cNvPr>
          <p:cNvSpPr txBox="1"/>
          <p:nvPr/>
        </p:nvSpPr>
        <p:spPr>
          <a:xfrm>
            <a:off x="5270500" y="350266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Registry Run Keys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EA1DD19-2F47-8E7E-4B74-C541D2B1FE45}"/>
              </a:ext>
            </a:extLst>
          </p:cNvPr>
          <p:cNvSpPr/>
          <p:nvPr/>
        </p:nvSpPr>
        <p:spPr>
          <a:xfrm>
            <a:off x="609600" y="389128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3F96D16-C072-19E8-0026-669B5246EE58}"/>
              </a:ext>
            </a:extLst>
          </p:cNvPr>
          <p:cNvSpPr txBox="1"/>
          <p:nvPr/>
        </p:nvSpPr>
        <p:spPr>
          <a:xfrm>
            <a:off x="685800" y="394208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TEC-005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9568E7B-4D18-D104-B0D4-85D3F88054CB}"/>
              </a:ext>
            </a:extLst>
          </p:cNvPr>
          <p:cNvSpPr/>
          <p:nvPr/>
        </p:nvSpPr>
        <p:spPr>
          <a:xfrm>
            <a:off x="1676400" y="389128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21053B6-3550-64F3-5E51-61EED0C67435}"/>
              </a:ext>
            </a:extLst>
          </p:cNvPr>
          <p:cNvSpPr txBox="1"/>
          <p:nvPr/>
        </p:nvSpPr>
        <p:spPr>
          <a:xfrm>
            <a:off x="1752600" y="394208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T1569.002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5594B18F-8BB8-E56D-87B8-5701A6EE3CB2}"/>
              </a:ext>
            </a:extLst>
          </p:cNvPr>
          <p:cNvSpPr/>
          <p:nvPr/>
        </p:nvSpPr>
        <p:spPr>
          <a:xfrm>
            <a:off x="3352800" y="389128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FC390AB-DAC0-54DC-A8EB-23C3DBC33418}"/>
              </a:ext>
            </a:extLst>
          </p:cNvPr>
          <p:cNvSpPr txBox="1"/>
          <p:nvPr/>
        </p:nvSpPr>
        <p:spPr>
          <a:xfrm>
            <a:off x="3429000" y="394208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7F2B9B0-0319-9D6B-56D5-159C9C4E35A7}"/>
              </a:ext>
            </a:extLst>
          </p:cNvPr>
          <p:cNvSpPr/>
          <p:nvPr/>
        </p:nvSpPr>
        <p:spPr>
          <a:xfrm>
            <a:off x="5194300" y="389128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D619F6F-5702-EA87-97F7-2A33F7F73D68}"/>
              </a:ext>
            </a:extLst>
          </p:cNvPr>
          <p:cNvSpPr txBox="1"/>
          <p:nvPr/>
        </p:nvSpPr>
        <p:spPr>
          <a:xfrm>
            <a:off x="5270500" y="394208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Service Execution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5C98D68-EBED-25E9-098A-95CFD274AC2B}"/>
              </a:ext>
            </a:extLst>
          </p:cNvPr>
          <p:cNvSpPr/>
          <p:nvPr/>
        </p:nvSpPr>
        <p:spPr>
          <a:xfrm>
            <a:off x="609600" y="4330700"/>
            <a:ext cx="10668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ED1AB59-5DCC-9D46-B516-75296324766E}"/>
              </a:ext>
            </a:extLst>
          </p:cNvPr>
          <p:cNvSpPr txBox="1"/>
          <p:nvPr/>
        </p:nvSpPr>
        <p:spPr>
          <a:xfrm>
            <a:off x="685800" y="43815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F3F7F9"/>
                </a:solidFill>
                <a:latin typeface="Aptos" panose="020B0004020202020204" pitchFamily="34" charset="0"/>
              </a:rPr>
              <a:t>TEC-006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8653FF3-32CD-0201-9E65-BD5A3BC70057}"/>
              </a:ext>
            </a:extLst>
          </p:cNvPr>
          <p:cNvSpPr/>
          <p:nvPr/>
        </p:nvSpPr>
        <p:spPr>
          <a:xfrm>
            <a:off x="1676400" y="4330700"/>
            <a:ext cx="16764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205CFB2-4042-9C93-2D0E-D0E0B025AB28}"/>
              </a:ext>
            </a:extLst>
          </p:cNvPr>
          <p:cNvSpPr txBox="1"/>
          <p:nvPr/>
        </p:nvSpPr>
        <p:spPr>
          <a:xfrm>
            <a:off x="1752600" y="43815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T1518.001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7969D250-5C3A-2A33-CFB2-5F21016C6058}"/>
              </a:ext>
            </a:extLst>
          </p:cNvPr>
          <p:cNvSpPr/>
          <p:nvPr/>
        </p:nvSpPr>
        <p:spPr>
          <a:xfrm>
            <a:off x="3352800" y="4330700"/>
            <a:ext cx="18415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FB33FC4-DDDB-BCC1-BC8D-AA19A1AB5A86}"/>
              </a:ext>
            </a:extLst>
          </p:cNvPr>
          <p:cNvSpPr txBox="1"/>
          <p:nvPr/>
        </p:nvSpPr>
        <p:spPr>
          <a:xfrm>
            <a:off x="3429000" y="43815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6072597-BF79-9835-169E-E674C608A8BE}"/>
              </a:ext>
            </a:extLst>
          </p:cNvPr>
          <p:cNvSpPr/>
          <p:nvPr/>
        </p:nvSpPr>
        <p:spPr>
          <a:xfrm>
            <a:off x="5194300" y="4330700"/>
            <a:ext cx="6388100" cy="439420"/>
          </a:xfrm>
          <a:prstGeom prst="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851BDE1-7E4F-E302-1F7B-8305B272E190}"/>
              </a:ext>
            </a:extLst>
          </p:cNvPr>
          <p:cNvSpPr txBox="1"/>
          <p:nvPr/>
        </p:nvSpPr>
        <p:spPr>
          <a:xfrm>
            <a:off x="5270500" y="438150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Security Software Discovery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3A9FCB6-ED2D-CA98-B8B7-BE2420D36DBF}"/>
              </a:ext>
            </a:extLst>
          </p:cNvPr>
          <p:cNvSpPr/>
          <p:nvPr/>
        </p:nvSpPr>
        <p:spPr>
          <a:xfrm>
            <a:off x="609600" y="4770120"/>
            <a:ext cx="10668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8E86AF46-CB4B-6611-0FA9-A2632D85FA64}"/>
              </a:ext>
            </a:extLst>
          </p:cNvPr>
          <p:cNvSpPr txBox="1"/>
          <p:nvPr/>
        </p:nvSpPr>
        <p:spPr>
          <a:xfrm>
            <a:off x="685800" y="482092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E24A4A"/>
                </a:solidFill>
                <a:latin typeface="Aptos" panose="020B0004020202020204" pitchFamily="34" charset="0"/>
              </a:rPr>
              <a:t>TEC-007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BC4651BC-5783-C988-517F-C019900DD306}"/>
              </a:ext>
            </a:extLst>
          </p:cNvPr>
          <p:cNvSpPr/>
          <p:nvPr/>
        </p:nvSpPr>
        <p:spPr>
          <a:xfrm>
            <a:off x="1676400" y="4770120"/>
            <a:ext cx="16764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83702EBC-E48B-A8DA-97E4-611C9DE76383}"/>
              </a:ext>
            </a:extLst>
          </p:cNvPr>
          <p:cNvSpPr txBox="1"/>
          <p:nvPr/>
        </p:nvSpPr>
        <p:spPr>
          <a:xfrm>
            <a:off x="1752600" y="482092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T1486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7B68DFBD-2FAA-22BB-19ED-33AA0CC40E6F}"/>
              </a:ext>
            </a:extLst>
          </p:cNvPr>
          <p:cNvSpPr/>
          <p:nvPr/>
        </p:nvSpPr>
        <p:spPr>
          <a:xfrm>
            <a:off x="3352800" y="4770120"/>
            <a:ext cx="18415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5CD3284-F65C-E895-AC15-CDA97E92A203}"/>
              </a:ext>
            </a:extLst>
          </p:cNvPr>
          <p:cNvSpPr txBox="1"/>
          <p:nvPr/>
        </p:nvSpPr>
        <p:spPr>
          <a:xfrm>
            <a:off x="3429000" y="482092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Impact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ED8DA33-4543-0CD9-2A2F-9153AB980395}"/>
              </a:ext>
            </a:extLst>
          </p:cNvPr>
          <p:cNvSpPr/>
          <p:nvPr/>
        </p:nvSpPr>
        <p:spPr>
          <a:xfrm>
            <a:off x="5194300" y="4770120"/>
            <a:ext cx="63881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95E141E6-E05A-3BC7-19C0-D30CB140082F}"/>
              </a:ext>
            </a:extLst>
          </p:cNvPr>
          <p:cNvSpPr txBox="1"/>
          <p:nvPr/>
        </p:nvSpPr>
        <p:spPr>
          <a:xfrm>
            <a:off x="5270500" y="482092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Cifrado AES de datos dummy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99ED4373-F94B-E780-901C-C698772A4C4F}"/>
              </a:ext>
            </a:extLst>
          </p:cNvPr>
          <p:cNvSpPr/>
          <p:nvPr/>
        </p:nvSpPr>
        <p:spPr>
          <a:xfrm>
            <a:off x="609600" y="5209540"/>
            <a:ext cx="10668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708BA1D-A04D-9736-6098-B7846753B0E4}"/>
              </a:ext>
            </a:extLst>
          </p:cNvPr>
          <p:cNvSpPr txBox="1"/>
          <p:nvPr/>
        </p:nvSpPr>
        <p:spPr>
          <a:xfrm>
            <a:off x="685800" y="526034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E24A4A"/>
                </a:solidFill>
                <a:latin typeface="Aptos" panose="020B0004020202020204" pitchFamily="34" charset="0"/>
              </a:rPr>
              <a:t>TEC-008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85F146EE-C242-A1DD-EC05-05A40983386E}"/>
              </a:ext>
            </a:extLst>
          </p:cNvPr>
          <p:cNvSpPr/>
          <p:nvPr/>
        </p:nvSpPr>
        <p:spPr>
          <a:xfrm>
            <a:off x="1676400" y="5209540"/>
            <a:ext cx="16764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EE50A4C-6B10-01A6-A5E8-214607645925}"/>
              </a:ext>
            </a:extLst>
          </p:cNvPr>
          <p:cNvSpPr txBox="1"/>
          <p:nvPr/>
        </p:nvSpPr>
        <p:spPr>
          <a:xfrm>
            <a:off x="1752600" y="526034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T1485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940D0A61-4249-4F9E-FC5D-47196941DF72}"/>
              </a:ext>
            </a:extLst>
          </p:cNvPr>
          <p:cNvSpPr/>
          <p:nvPr/>
        </p:nvSpPr>
        <p:spPr>
          <a:xfrm>
            <a:off x="3352800" y="5209540"/>
            <a:ext cx="18415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F9968D3-289E-F9C4-FD62-E451A7D49111}"/>
              </a:ext>
            </a:extLst>
          </p:cNvPr>
          <p:cNvSpPr txBox="1"/>
          <p:nvPr/>
        </p:nvSpPr>
        <p:spPr>
          <a:xfrm>
            <a:off x="3429000" y="526034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Impact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996EB80E-C97E-CB61-2EDD-3DBCFB0C282C}"/>
              </a:ext>
            </a:extLst>
          </p:cNvPr>
          <p:cNvSpPr/>
          <p:nvPr/>
        </p:nvSpPr>
        <p:spPr>
          <a:xfrm>
            <a:off x="5194300" y="5209540"/>
            <a:ext cx="63881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EB662A1-F861-29F0-737B-20018C8FE7A5}"/>
              </a:ext>
            </a:extLst>
          </p:cNvPr>
          <p:cNvSpPr txBox="1"/>
          <p:nvPr/>
        </p:nvSpPr>
        <p:spPr>
          <a:xfrm>
            <a:off x="5270500" y="526034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rgbClr val="F3F7F9"/>
                </a:solidFill>
                <a:latin typeface="Aptos" panose="020B0004020202020204" pitchFamily="34" charset="0"/>
              </a:rPr>
              <a:t>Borrado controlado de dataset dummy</a:t>
            </a:r>
            <a:endParaRPr lang="es-ES" sz="1000">
              <a:solidFill>
                <a:srgbClr val="F3F7F9"/>
              </a:solidFill>
              <a:latin typeface="Aptos" panose="020B0004020202020204" pitchFamily="34" charset="0"/>
            </a:endParaRP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2AEFC274-8E38-3ADF-367A-1667D7052B67}"/>
              </a:ext>
            </a:extLst>
          </p:cNvPr>
          <p:cNvSpPr/>
          <p:nvPr/>
        </p:nvSpPr>
        <p:spPr>
          <a:xfrm>
            <a:off x="609600" y="5648960"/>
            <a:ext cx="10668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D386676-51BC-F27C-8400-D0ED51F7F950}"/>
              </a:ext>
            </a:extLst>
          </p:cNvPr>
          <p:cNvSpPr txBox="1"/>
          <p:nvPr/>
        </p:nvSpPr>
        <p:spPr>
          <a:xfrm>
            <a:off x="685800" y="569976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 b="1">
                <a:solidFill>
                  <a:srgbClr val="E24A4A"/>
                </a:solidFill>
                <a:latin typeface="Aptos" panose="020B0004020202020204" pitchFamily="34" charset="0"/>
              </a:rPr>
              <a:t>TEC-009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2BFAC594-C8D7-9535-352B-EEE176D17FB3}"/>
              </a:ext>
            </a:extLst>
          </p:cNvPr>
          <p:cNvSpPr/>
          <p:nvPr/>
        </p:nvSpPr>
        <p:spPr>
          <a:xfrm>
            <a:off x="1676400" y="5648960"/>
            <a:ext cx="16764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6A99603-57F8-3159-E191-C8EC2EAB95F1}"/>
              </a:ext>
            </a:extLst>
          </p:cNvPr>
          <p:cNvSpPr txBox="1"/>
          <p:nvPr/>
        </p:nvSpPr>
        <p:spPr>
          <a:xfrm>
            <a:off x="1752600" y="569976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T1074.001 / T1560.001 / T1048.003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23E7CAD4-4119-F6AA-3531-14F9B716E1F7}"/>
              </a:ext>
            </a:extLst>
          </p:cNvPr>
          <p:cNvSpPr/>
          <p:nvPr/>
        </p:nvSpPr>
        <p:spPr>
          <a:xfrm>
            <a:off x="3352800" y="5648960"/>
            <a:ext cx="18415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A5C06C2-930E-48ED-83CA-0CC684C1EACA}"/>
              </a:ext>
            </a:extLst>
          </p:cNvPr>
          <p:cNvSpPr txBox="1"/>
          <p:nvPr/>
        </p:nvSpPr>
        <p:spPr>
          <a:xfrm>
            <a:off x="3429000" y="569976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Collection + Exfiltration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E3EA1130-CA0A-EF9B-6A53-D6FB0487CB9C}"/>
              </a:ext>
            </a:extLst>
          </p:cNvPr>
          <p:cNvSpPr/>
          <p:nvPr/>
        </p:nvSpPr>
        <p:spPr>
          <a:xfrm>
            <a:off x="5194300" y="5648960"/>
            <a:ext cx="6388100" cy="439420"/>
          </a:xfrm>
          <a:prstGeom prst="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9802CB9A-53ED-7920-9BC7-94BBF36D9087}"/>
              </a:ext>
            </a:extLst>
          </p:cNvPr>
          <p:cNvSpPr txBox="1"/>
          <p:nvPr/>
        </p:nvSpPr>
        <p:spPr>
          <a:xfrm>
            <a:off x="5270500" y="5699760"/>
            <a:ext cx="6235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F3F7F9"/>
                </a:solidFill>
                <a:latin typeface="Aptos" panose="020B0004020202020204" pitchFamily="34" charset="0"/>
              </a:rPr>
              <a:t>Staging, ZIP y upload HTTP controlado</a:t>
            </a:r>
          </a:p>
        </p:txBody>
      </p:sp>
    </p:spTree>
    <p:extLst>
      <p:ext uri="{BB962C8B-B14F-4D97-AF65-F5344CB8AC3E}">
        <p14:creationId xmlns:p14="http://schemas.microsoft.com/office/powerpoint/2010/main" val="4142257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CADFBC-6720-C18B-F192-F3A6EA631A20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METODOLOGÍA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391FF7-890C-97B9-1752-0B2BD3642E3B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Misma ejecución; cinco niveles que no deben confundirse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5283AF4-4C48-3DB2-AE48-38B1A4EE60A2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25F54A2-30B4-6068-7FAD-5964DC4BA4FD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F0CB429-B675-959D-7158-84CFC191F277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TFM.docx · Capítulos IV-VI; Excel de análisis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274484-A296-9FC7-FF87-6F6F2F9023A1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945C879-66E8-DCA4-2A99-50E495714913}"/>
              </a:ext>
            </a:extLst>
          </p:cNvPr>
          <p:cNvSpPr/>
          <p:nvPr/>
        </p:nvSpPr>
        <p:spPr>
          <a:xfrm>
            <a:off x="609600" y="1600200"/>
            <a:ext cx="2032000" cy="1473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35B668-259E-3C87-8750-B70DD2ACDA84}"/>
              </a:ext>
            </a:extLst>
          </p:cNvPr>
          <p:cNvSpPr txBox="1"/>
          <p:nvPr/>
        </p:nvSpPr>
        <p:spPr>
          <a:xfrm>
            <a:off x="787400" y="17907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Bahnschrift" panose="020B0502040204020203" pitchFamily="34" charset="0"/>
              </a:rPr>
              <a:t>01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40F20C-5F63-1ED2-8E5C-A4C2D635ED71}"/>
              </a:ext>
            </a:extLst>
          </p:cNvPr>
          <p:cNvSpPr txBox="1"/>
          <p:nvPr/>
        </p:nvSpPr>
        <p:spPr>
          <a:xfrm>
            <a:off x="787400" y="2159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EJECUCIÓN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F161EB1-97C6-555A-6D06-EB3F900F4D4E}"/>
              </a:ext>
            </a:extLst>
          </p:cNvPr>
          <p:cNvSpPr txBox="1"/>
          <p:nvPr/>
        </p:nvSpPr>
        <p:spPr>
          <a:xfrm>
            <a:off x="787400" y="2514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Runner global
TEC-001…009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6B3BBD-8222-889A-2DB6-D87FA97EBB4D}"/>
              </a:ext>
            </a:extLst>
          </p:cNvPr>
          <p:cNvSpPr/>
          <p:nvPr/>
        </p:nvSpPr>
        <p:spPr>
          <a:xfrm>
            <a:off x="2844800" y="1600200"/>
            <a:ext cx="2032000" cy="1473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DE47552-9C94-EB35-618D-E71476F9E301}"/>
              </a:ext>
            </a:extLst>
          </p:cNvPr>
          <p:cNvSpPr txBox="1"/>
          <p:nvPr/>
        </p:nvSpPr>
        <p:spPr>
          <a:xfrm>
            <a:off x="3022600" y="17907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Bahnschrif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A462BF5-8C76-044F-EF7E-65C75648BE1E}"/>
              </a:ext>
            </a:extLst>
          </p:cNvPr>
          <p:cNvSpPr txBox="1"/>
          <p:nvPr/>
        </p:nvSpPr>
        <p:spPr>
          <a:xfrm>
            <a:off x="3022600" y="2159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901C4BA-B516-E8A0-D108-8BEC4DF40DA8}"/>
              </a:ext>
            </a:extLst>
          </p:cNvPr>
          <p:cNvSpPr txBox="1"/>
          <p:nvPr/>
        </p:nvSpPr>
        <p:spPr>
          <a:xfrm>
            <a:off x="3022600" y="2514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Tiempos · evidencias
summary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E36C9AC-38C5-D494-05A3-CDB50D46617F}"/>
              </a:ext>
            </a:extLst>
          </p:cNvPr>
          <p:cNvSpPr/>
          <p:nvPr/>
        </p:nvSpPr>
        <p:spPr>
          <a:xfrm>
            <a:off x="5080000" y="1600200"/>
            <a:ext cx="2032000" cy="1473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DEF1A9-376E-AE52-4DFD-EDB34EEB68B0}"/>
              </a:ext>
            </a:extLst>
          </p:cNvPr>
          <p:cNvSpPr txBox="1"/>
          <p:nvPr/>
        </p:nvSpPr>
        <p:spPr>
          <a:xfrm>
            <a:off x="5257800" y="17907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Bahnschrift" panose="020B0502040204020203" pitchFamily="34" charset="0"/>
              </a:rPr>
              <a:t>03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A2E9E21-F3A4-D088-F779-D44A014C384C}"/>
              </a:ext>
            </a:extLst>
          </p:cNvPr>
          <p:cNvSpPr txBox="1"/>
          <p:nvPr/>
        </p:nvSpPr>
        <p:spPr>
          <a:xfrm>
            <a:off x="5257800" y="2159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TELEMETRÍA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ED26ED-7F83-0BC1-CD59-95A280A42909}"/>
              </a:ext>
            </a:extLst>
          </p:cNvPr>
          <p:cNvSpPr txBox="1"/>
          <p:nvPr/>
        </p:nvSpPr>
        <p:spPr>
          <a:xfrm>
            <a:off x="5257800" y="2514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Sysmon · 4104
Windows logs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93C1CDF-7762-9CC0-9CC1-8204A816A792}"/>
              </a:ext>
            </a:extLst>
          </p:cNvPr>
          <p:cNvSpPr/>
          <p:nvPr/>
        </p:nvSpPr>
        <p:spPr>
          <a:xfrm>
            <a:off x="7315200" y="1600200"/>
            <a:ext cx="2032000" cy="1473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8DE8C5E-524B-BF1D-B935-DDD62F1213EF}"/>
              </a:ext>
            </a:extLst>
          </p:cNvPr>
          <p:cNvSpPr txBox="1"/>
          <p:nvPr/>
        </p:nvSpPr>
        <p:spPr>
          <a:xfrm>
            <a:off x="7493000" y="17907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FF9B54"/>
                </a:solidFill>
                <a:latin typeface="Bahnschrift" panose="020B0502040204020203" pitchFamily="34" charset="0"/>
              </a:rPr>
              <a:t>04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72A6A6E-3121-7EEE-0BCD-342F4EBFD63C}"/>
              </a:ext>
            </a:extLst>
          </p:cNvPr>
          <p:cNvSpPr txBox="1"/>
          <p:nvPr/>
        </p:nvSpPr>
        <p:spPr>
          <a:xfrm>
            <a:off x="7493000" y="2159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EVALUACIÓN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F6D16CC-1283-4CCF-925D-66C0A5CF07ED}"/>
              </a:ext>
            </a:extLst>
          </p:cNvPr>
          <p:cNvSpPr txBox="1"/>
          <p:nvPr/>
        </p:nvSpPr>
        <p:spPr>
          <a:xfrm>
            <a:off x="7493000" y="2514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Públicos
vs custom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8FEDBEB-D468-A52F-46B7-C8DFEC6E06CE}"/>
              </a:ext>
            </a:extLst>
          </p:cNvPr>
          <p:cNvSpPr/>
          <p:nvPr/>
        </p:nvSpPr>
        <p:spPr>
          <a:xfrm>
            <a:off x="9550400" y="1600200"/>
            <a:ext cx="2032000" cy="1473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00CFFB2-96A8-CF09-029C-9C738191BB8B}"/>
              </a:ext>
            </a:extLst>
          </p:cNvPr>
          <p:cNvSpPr txBox="1"/>
          <p:nvPr/>
        </p:nvSpPr>
        <p:spPr>
          <a:xfrm>
            <a:off x="9728200" y="17907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E24A4A"/>
                </a:solidFill>
                <a:latin typeface="Bahnschrift" panose="020B0502040204020203" pitchFamily="34" charset="0"/>
              </a:rPr>
              <a:t>05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6286A22-4FED-DAEE-1DF5-B1F203A6D66A}"/>
              </a:ext>
            </a:extLst>
          </p:cNvPr>
          <p:cNvSpPr txBox="1"/>
          <p:nvPr/>
        </p:nvSpPr>
        <p:spPr>
          <a:xfrm>
            <a:off x="9728200" y="2159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CONTRASTE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594576C-C37F-F510-1BD5-51CCD681755C}"/>
              </a:ext>
            </a:extLst>
          </p:cNvPr>
          <p:cNvSpPr txBox="1"/>
          <p:nvPr/>
        </p:nvSpPr>
        <p:spPr>
          <a:xfrm>
            <a:off x="9728200" y="2514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 b="1">
                <a:solidFill>
                  <a:srgbClr val="F3F7F9"/>
                </a:solidFill>
                <a:latin typeface="Aptos" panose="020B0004020202020204" pitchFamily="34" charset="0"/>
              </a:rPr>
              <a:t>Runner FP
Wazuh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E9F249B-DB9D-38D7-427B-E56749500B11}"/>
              </a:ext>
            </a:extLst>
          </p:cNvPr>
          <p:cNvCxnSpPr/>
          <p:nvPr/>
        </p:nvCxnSpPr>
        <p:spPr>
          <a:xfrm>
            <a:off x="2641600" y="2336800"/>
            <a:ext cx="152400" cy="0"/>
          </a:xfrm>
          <a:prstGeom prst="line">
            <a:avLst/>
          </a:prstGeom>
          <a:ln w="2540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0B65A17-CD8D-248D-7CB9-5C964946B5B3}"/>
              </a:ext>
            </a:extLst>
          </p:cNvPr>
          <p:cNvCxnSpPr/>
          <p:nvPr/>
        </p:nvCxnSpPr>
        <p:spPr>
          <a:xfrm>
            <a:off x="4876800" y="2336800"/>
            <a:ext cx="152400" cy="0"/>
          </a:xfrm>
          <a:prstGeom prst="line">
            <a:avLst/>
          </a:prstGeom>
          <a:ln w="2540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8DA59CF-A328-B8A8-20E4-9FC7A141D61F}"/>
              </a:ext>
            </a:extLst>
          </p:cNvPr>
          <p:cNvCxnSpPr/>
          <p:nvPr/>
        </p:nvCxnSpPr>
        <p:spPr>
          <a:xfrm>
            <a:off x="7112000" y="2336800"/>
            <a:ext cx="152400" cy="0"/>
          </a:xfrm>
          <a:prstGeom prst="line">
            <a:avLst/>
          </a:prstGeom>
          <a:ln w="2540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224F657-BD25-150E-3056-6C988A6B55E4}"/>
              </a:ext>
            </a:extLst>
          </p:cNvPr>
          <p:cNvCxnSpPr/>
          <p:nvPr/>
        </p:nvCxnSpPr>
        <p:spPr>
          <a:xfrm>
            <a:off x="9347200" y="2336800"/>
            <a:ext cx="152400" cy="0"/>
          </a:xfrm>
          <a:prstGeom prst="line">
            <a:avLst/>
          </a:prstGeom>
          <a:ln w="25400">
            <a:solidFill>
              <a:srgbClr val="35D0B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DAA9197-DE9B-5A6D-85AE-3C943E6A646A}"/>
              </a:ext>
            </a:extLst>
          </p:cNvPr>
          <p:cNvSpPr txBox="1"/>
          <p:nvPr/>
        </p:nvSpPr>
        <p:spPr>
          <a:xfrm>
            <a:off x="609600" y="3517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SEPARACIÓN METODOLÓGICA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B5C3B5BE-F6F2-BF50-1B3B-5B0D80F4182A}"/>
              </a:ext>
            </a:extLst>
          </p:cNvPr>
          <p:cNvSpPr/>
          <p:nvPr/>
        </p:nvSpPr>
        <p:spPr>
          <a:xfrm>
            <a:off x="609600" y="3962400"/>
            <a:ext cx="2006600" cy="1447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6F87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162F32B-D77B-9CAA-56DA-EF7EEA65FDEA}"/>
              </a:ext>
            </a:extLst>
          </p:cNvPr>
          <p:cNvSpPr txBox="1"/>
          <p:nvPr/>
        </p:nvSpPr>
        <p:spPr>
          <a:xfrm>
            <a:off x="762000" y="41910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6F8794"/>
                </a:solidFill>
                <a:latin typeface="Aptos" panose="020B0004020202020204" pitchFamily="34" charset="0"/>
              </a:rPr>
              <a:t>VISIBILIDAD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2B5D947-8F21-7E6C-A5B4-D333CEAC4C42}"/>
              </a:ext>
            </a:extLst>
          </p:cNvPr>
          <p:cNvSpPr txBox="1"/>
          <p:nvPr/>
        </p:nvSpPr>
        <p:spPr>
          <a:xfrm>
            <a:off x="762000" y="45085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F3F7F9"/>
                </a:solidFill>
                <a:latin typeface="Aptos Display" panose="020B0004020202020204" pitchFamily="34" charset="0"/>
              </a:rPr>
              <a:t>≠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C8364B6-1DFA-4F83-2E45-747E5FAD0EAB}"/>
              </a:ext>
            </a:extLst>
          </p:cNvPr>
          <p:cNvSpPr txBox="1"/>
          <p:nvPr/>
        </p:nvSpPr>
        <p:spPr>
          <a:xfrm>
            <a:off x="762000" y="49022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telemetría observada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F5D9FA57-79EB-AFDC-E7C7-B9BA1EEEFD15}"/>
              </a:ext>
            </a:extLst>
          </p:cNvPr>
          <p:cNvSpPr/>
          <p:nvPr/>
        </p:nvSpPr>
        <p:spPr>
          <a:xfrm>
            <a:off x="2755900" y="3962400"/>
            <a:ext cx="2006600" cy="1447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C020D88-8496-8204-E815-62447325CB50}"/>
              </a:ext>
            </a:extLst>
          </p:cNvPr>
          <p:cNvSpPr txBox="1"/>
          <p:nvPr/>
        </p:nvSpPr>
        <p:spPr>
          <a:xfrm>
            <a:off x="2908300" y="41910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DETECCIÓN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04C7330-B8F6-20DD-4E38-5951DEC00094}"/>
              </a:ext>
            </a:extLst>
          </p:cNvPr>
          <p:cNvSpPr txBox="1"/>
          <p:nvPr/>
        </p:nvSpPr>
        <p:spPr>
          <a:xfrm>
            <a:off x="2908300" y="45085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F3F7F9"/>
                </a:solidFill>
                <a:latin typeface="Aptos Display" panose="020B0004020202020204" pitchFamily="34" charset="0"/>
              </a:rPr>
              <a:t>≠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FD59185-A5CD-B7FC-718A-E3DA13395549}"/>
              </a:ext>
            </a:extLst>
          </p:cNvPr>
          <p:cNvSpPr txBox="1"/>
          <p:nvPr/>
        </p:nvSpPr>
        <p:spPr>
          <a:xfrm>
            <a:off x="2908300" y="49022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CLIENT_EVENT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4056D6C-3CAD-AAFF-3ED9-17CC0A6880E2}"/>
              </a:ext>
            </a:extLst>
          </p:cNvPr>
          <p:cNvSpPr/>
          <p:nvPr/>
        </p:nvSpPr>
        <p:spPr>
          <a:xfrm>
            <a:off x="4902200" y="3962400"/>
            <a:ext cx="2006600" cy="1447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FF9B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73FF4EB-7D85-5321-EF6D-ADD559991E48}"/>
              </a:ext>
            </a:extLst>
          </p:cNvPr>
          <p:cNvSpPr txBox="1"/>
          <p:nvPr/>
        </p:nvSpPr>
        <p:spPr>
          <a:xfrm>
            <a:off x="5054600" y="41910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FF9B54"/>
                </a:solidFill>
                <a:latin typeface="Aptos" panose="020B0004020202020204" pitchFamily="34" charset="0"/>
              </a:rPr>
              <a:t>ALERTA RT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6F8F797-953E-3F50-6197-66041AE542D1}"/>
              </a:ext>
            </a:extLst>
          </p:cNvPr>
          <p:cNvSpPr txBox="1"/>
          <p:nvPr/>
        </p:nvSpPr>
        <p:spPr>
          <a:xfrm>
            <a:off x="5054600" y="45085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F3F7F9"/>
                </a:solidFill>
                <a:latin typeface="Aptos Display" panose="020B0004020202020204" pitchFamily="34" charset="0"/>
              </a:rPr>
              <a:t>≠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59CB23A-40ED-5CD4-C2BD-F49895AFEAD9}"/>
              </a:ext>
            </a:extLst>
          </p:cNvPr>
          <p:cNvSpPr txBox="1"/>
          <p:nvPr/>
        </p:nvSpPr>
        <p:spPr>
          <a:xfrm>
            <a:off x="5054600" y="49022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señal en tiempo real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BE00644-7E94-A428-B8B5-8388CE2F76B5}"/>
              </a:ext>
            </a:extLst>
          </p:cNvPr>
          <p:cNvSpPr/>
          <p:nvPr/>
        </p:nvSpPr>
        <p:spPr>
          <a:xfrm>
            <a:off x="7048500" y="3962400"/>
            <a:ext cx="2006600" cy="1447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E2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E46ED0A-F72D-58C7-ED9F-C177416D36FA}"/>
              </a:ext>
            </a:extLst>
          </p:cNvPr>
          <p:cNvSpPr txBox="1"/>
          <p:nvPr/>
        </p:nvSpPr>
        <p:spPr>
          <a:xfrm>
            <a:off x="7200900" y="41910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E24A4A"/>
                </a:solidFill>
                <a:latin typeface="Aptos" panose="020B0004020202020204" pitchFamily="34" charset="0"/>
              </a:rPr>
              <a:t>EVIDENCIA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2A13CC1-8381-56D8-05C3-F6DB5FAEF09F}"/>
              </a:ext>
            </a:extLst>
          </p:cNvPr>
          <p:cNvSpPr txBox="1"/>
          <p:nvPr/>
        </p:nvSpPr>
        <p:spPr>
          <a:xfrm>
            <a:off x="7200900" y="45085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F3F7F9"/>
                </a:solidFill>
                <a:latin typeface="Aptos Display" panose="020B0004020202020204" pitchFamily="34" charset="0"/>
              </a:rPr>
              <a:t>≠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750C7EC-7E6D-9A33-1066-B7E262F45815}"/>
              </a:ext>
            </a:extLst>
          </p:cNvPr>
          <p:cNvSpPr txBox="1"/>
          <p:nvPr/>
        </p:nvSpPr>
        <p:spPr>
          <a:xfrm>
            <a:off x="7200900" y="49022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contexto forense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EA552F84-C7AC-29DC-551A-E5C6CEC75120}"/>
              </a:ext>
            </a:extLst>
          </p:cNvPr>
          <p:cNvSpPr/>
          <p:nvPr/>
        </p:nvSpPr>
        <p:spPr>
          <a:xfrm>
            <a:off x="9194800" y="3962400"/>
            <a:ext cx="2387600" cy="1447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AFC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5948B8E-60AE-64D6-4676-538B9790E766}"/>
              </a:ext>
            </a:extLst>
          </p:cNvPr>
          <p:cNvSpPr txBox="1"/>
          <p:nvPr/>
        </p:nvSpPr>
        <p:spPr>
          <a:xfrm>
            <a:off x="9347200" y="41910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AFC2CC"/>
                </a:solidFill>
                <a:latin typeface="Aptos" panose="020B0004020202020204" pitchFamily="34" charset="0"/>
              </a:rPr>
              <a:t>SALIDA EXTERNA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482E3E5-7178-4D1B-CE80-26288242F1DE}"/>
              </a:ext>
            </a:extLst>
          </p:cNvPr>
          <p:cNvSpPr txBox="1"/>
          <p:nvPr/>
        </p:nvSpPr>
        <p:spPr>
          <a:xfrm>
            <a:off x="9347200" y="45085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F3F7F9"/>
                </a:solidFill>
                <a:latin typeface="Aptos Display" panose="020B0004020202020204" pitchFamily="34" charset="0"/>
              </a:rPr>
              <a:t>≠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991C77F-E133-6CEB-A32D-BDEE1A722C5D}"/>
              </a:ext>
            </a:extLst>
          </p:cNvPr>
          <p:cNvSpPr txBox="1"/>
          <p:nvPr/>
        </p:nvSpPr>
        <p:spPr>
          <a:xfrm>
            <a:off x="9347200" y="49022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AFC2CC"/>
                </a:solidFill>
                <a:latin typeface="Aptos" panose="020B0004020202020204" pitchFamily="34" charset="0"/>
              </a:rPr>
              <a:t>JSONL · Discord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8658D16-700E-66A8-6B19-68A80508BF48}"/>
              </a:ext>
            </a:extLst>
          </p:cNvPr>
          <p:cNvSpPr txBox="1"/>
          <p:nvPr/>
        </p:nvSpPr>
        <p:spPr>
          <a:xfrm>
            <a:off x="609600" y="5740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HTTP 200 confirma el runner · Sysmon 26 aporta evidencia forense · ninguno sustituye una detección HIDS</a:t>
            </a:r>
          </a:p>
        </p:txBody>
      </p:sp>
    </p:spTree>
    <p:extLst>
      <p:ext uri="{BB962C8B-B14F-4D97-AF65-F5344CB8AC3E}">
        <p14:creationId xmlns:p14="http://schemas.microsoft.com/office/powerpoint/2010/main" val="5078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AB4844-42AC-D2C5-2C5B-01120786BC20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DISEÑO DE DETECCIÓN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4E0A3F6-202C-DE35-AB68-7A501A34FE13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Los artifacts custom convierten telemetría en señales específicas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12DA0BC-159B-3B84-5D41-8CC333D2A329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CA42A9A-3EAC-5E57-58C5-E8AC1C18ABA6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07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D4635D-F28A-9515-F8E8-E26C0A643C1D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Analisis_Tecnicas_TFM_Velociraptor.xlsx · 05_Artifacts y 06_Comparativa_Wazuh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6F7977-CBAE-AA6F-9DE5-1F8E6EF24D2F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A0FEDDD-9838-291F-30A8-6561F0EF8F9E}"/>
              </a:ext>
            </a:extLst>
          </p:cNvPr>
          <p:cNvSpPr/>
          <p:nvPr/>
        </p:nvSpPr>
        <p:spPr>
          <a:xfrm>
            <a:off x="609600" y="1498600"/>
            <a:ext cx="3225800" cy="41910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BC285A-51BC-A88B-F503-D125B247F3F8}"/>
              </a:ext>
            </a:extLst>
          </p:cNvPr>
          <p:cNvSpPr txBox="1"/>
          <p:nvPr/>
        </p:nvSpPr>
        <p:spPr>
          <a:xfrm>
            <a:off x="838200" y="1727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PÚBLICOS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06FB95A-B6EE-8B3B-8552-2D5BC9F226FA}"/>
              </a:ext>
            </a:extLst>
          </p:cNvPr>
          <p:cNvSpPr txBox="1"/>
          <p:nvPr/>
        </p:nvSpPr>
        <p:spPr>
          <a:xfrm>
            <a:off x="838200" y="2108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700" b="1">
                <a:solidFill>
                  <a:srgbClr val="F3F7F9"/>
                </a:solidFill>
                <a:latin typeface="Bahnschrift SemiBold" panose="020B0502040204020203" pitchFamily="34" charset="0"/>
              </a:rPr>
              <a:t>6 campañas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64C2177-58E5-4E1E-0E9D-B8B32AD66E2F}"/>
              </a:ext>
            </a:extLst>
          </p:cNvPr>
          <p:cNvSpPr/>
          <p:nvPr/>
        </p:nvSpPr>
        <p:spPr>
          <a:xfrm>
            <a:off x="838200" y="2717800"/>
            <a:ext cx="2133600" cy="330200"/>
          </a:xfrm>
          <a:prstGeom prst="round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C5A850-0F11-A43D-1ED4-4180F3102F85}"/>
              </a:ext>
            </a:extLst>
          </p:cNvPr>
          <p:cNvSpPr txBox="1"/>
          <p:nvPr/>
        </p:nvSpPr>
        <p:spPr>
          <a:xfrm>
            <a:off x="838200" y="27178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Aptos" panose="020B0004020202020204" pitchFamily="34" charset="0"/>
              </a:rPr>
              <a:t>HAYABUSA · 3/9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4AA13E-BA40-E457-2BA9-8B87F952E670}"/>
              </a:ext>
            </a:extLst>
          </p:cNvPr>
          <p:cNvSpPr txBox="1"/>
          <p:nvPr/>
        </p:nvSpPr>
        <p:spPr>
          <a:xfrm>
            <a:off x="838200" y="33401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AFC2CC"/>
                </a:solidFill>
                <a:latin typeface="Aptos" panose="020B0004020202020204" pitchFamily="34" charset="0"/>
              </a:rPr>
              <a:t>ProcessCreation
ServiceCreation
SysmonLogForward
ETW Monitoring
TrackNetworkConnections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9AFB76E-404E-8A83-374D-162317817F92}"/>
              </a:ext>
            </a:extLst>
          </p:cNvPr>
          <p:cNvSpPr txBox="1"/>
          <p:nvPr/>
        </p:nvSpPr>
        <p:spPr>
          <a:xfrm>
            <a:off x="838200" y="5207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FF9B54"/>
                </a:solidFill>
                <a:latin typeface="Aptos" panose="020B0004020202020204" pitchFamily="34" charset="0"/>
              </a:rPr>
              <a:t>Visibilidad ≠ detección específica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054DC1B-B71C-BAC8-38ED-F5E25208E984}"/>
              </a:ext>
            </a:extLst>
          </p:cNvPr>
          <p:cNvSpPr/>
          <p:nvPr/>
        </p:nvSpPr>
        <p:spPr>
          <a:xfrm>
            <a:off x="4140200" y="1498600"/>
            <a:ext cx="4546600" cy="41910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1D6A17-DC17-51B4-53F3-79AB20E885E6}"/>
              </a:ext>
            </a:extLst>
          </p:cNvPr>
          <p:cNvSpPr txBox="1"/>
          <p:nvPr/>
        </p:nvSpPr>
        <p:spPr>
          <a:xfrm>
            <a:off x="4368800" y="17272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CUSTOM · CLIENT_EVENT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F2704DF-2243-56AD-A3E4-2D4136FDFE9B}"/>
              </a:ext>
            </a:extLst>
          </p:cNvPr>
          <p:cNvSpPr/>
          <p:nvPr/>
        </p:nvSpPr>
        <p:spPr>
          <a:xfrm>
            <a:off x="4368800" y="2235200"/>
            <a:ext cx="4089400" cy="5588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5B606CA-C309-B040-E2AE-D3F997FDE978}"/>
              </a:ext>
            </a:extLst>
          </p:cNvPr>
          <p:cNvSpPr/>
          <p:nvPr/>
        </p:nvSpPr>
        <p:spPr>
          <a:xfrm>
            <a:off x="4495800" y="2336800"/>
            <a:ext cx="533400" cy="3556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B7FD16-3A9B-E6CE-B011-DDF00A0850E0}"/>
              </a:ext>
            </a:extLst>
          </p:cNvPr>
          <p:cNvSpPr txBox="1"/>
          <p:nvPr/>
        </p:nvSpPr>
        <p:spPr>
          <a:xfrm>
            <a:off x="4495800" y="2336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71826"/>
                </a:solidFill>
                <a:latin typeface="Aptos" panose="020B0004020202020204" pitchFamily="34" charset="0"/>
              </a:rPr>
              <a:t>P1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119C8A3-7BDD-5D0A-6118-A78858BEEAFB}"/>
              </a:ext>
            </a:extLst>
          </p:cNvPr>
          <p:cNvSpPr txBox="1"/>
          <p:nvPr/>
        </p:nvSpPr>
        <p:spPr>
          <a:xfrm>
            <a:off x="5181600" y="2324100"/>
            <a:ext cx="187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Prioridad crítica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A4CB792-3F45-4298-3966-058DDECD6C17}"/>
              </a:ext>
            </a:extLst>
          </p:cNvPr>
          <p:cNvSpPr txBox="1"/>
          <p:nvPr/>
        </p:nvSpPr>
        <p:spPr>
          <a:xfrm>
            <a:off x="7112000" y="2362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35D0BA"/>
                </a:solidFill>
                <a:latin typeface="Bahnschrift" panose="020B0502040204020203" pitchFamily="34" charset="0"/>
              </a:rPr>
              <a:t>5/9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4D76C8-01E5-C921-2B3F-4CFB98CBDD62}"/>
              </a:ext>
            </a:extLst>
          </p:cNvPr>
          <p:cNvSpPr txBox="1"/>
          <p:nvPr/>
        </p:nvSpPr>
        <p:spPr>
          <a:xfrm>
            <a:off x="7747000" y="2349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100" b="1">
                <a:solidFill>
                  <a:srgbClr val="AFC2CC"/>
                </a:solidFill>
                <a:latin typeface="Bahnschrift" panose="020B0502040204020203" pitchFamily="34" charset="0"/>
              </a:rPr>
              <a:t>19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B854CCE-6BF4-DCA3-B27E-5F48219F699C}"/>
              </a:ext>
            </a:extLst>
          </p:cNvPr>
          <p:cNvSpPr/>
          <p:nvPr/>
        </p:nvSpPr>
        <p:spPr>
          <a:xfrm>
            <a:off x="4368800" y="2946400"/>
            <a:ext cx="4089400" cy="5588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FB355B8-2798-DB5D-44B2-F654837DBF49}"/>
              </a:ext>
            </a:extLst>
          </p:cNvPr>
          <p:cNvSpPr/>
          <p:nvPr/>
        </p:nvSpPr>
        <p:spPr>
          <a:xfrm>
            <a:off x="4495800" y="3048000"/>
            <a:ext cx="533400" cy="3556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E9B4F0E-F518-2049-DA2A-A700B99C307B}"/>
              </a:ext>
            </a:extLst>
          </p:cNvPr>
          <p:cNvSpPr txBox="1"/>
          <p:nvPr/>
        </p:nvSpPr>
        <p:spPr>
          <a:xfrm>
            <a:off x="4495800" y="30480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71826"/>
                </a:solidFill>
                <a:latin typeface="Aptos" panose="020B0004020202020204" pitchFamily="34" charset="0"/>
              </a:rPr>
              <a:t>P2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588FADA-906C-D78E-2E7E-EEDDA8F2349E}"/>
              </a:ext>
            </a:extLst>
          </p:cNvPr>
          <p:cNvSpPr txBox="1"/>
          <p:nvPr/>
        </p:nvSpPr>
        <p:spPr>
          <a:xfrm>
            <a:off x="5181600" y="3035300"/>
            <a:ext cx="187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Forense / contexto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F2D8E95-20D4-DD07-947D-413D6F74FBA8}"/>
              </a:ext>
            </a:extLst>
          </p:cNvPr>
          <p:cNvSpPr txBox="1"/>
          <p:nvPr/>
        </p:nvSpPr>
        <p:spPr>
          <a:xfrm>
            <a:off x="7112000" y="30734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35D0BA"/>
                </a:solidFill>
                <a:latin typeface="Bahnschrift" panose="020B0502040204020203" pitchFamily="34" charset="0"/>
              </a:rPr>
              <a:t>7/9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147B49A-933B-1CD8-612D-A1B0742966EC}"/>
              </a:ext>
            </a:extLst>
          </p:cNvPr>
          <p:cNvSpPr txBox="1"/>
          <p:nvPr/>
        </p:nvSpPr>
        <p:spPr>
          <a:xfrm>
            <a:off x="7747000" y="30607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100" b="1">
                <a:solidFill>
                  <a:srgbClr val="AFC2CC"/>
                </a:solidFill>
                <a:latin typeface="Bahnschrift" panose="020B0502040204020203" pitchFamily="34" charset="0"/>
              </a:rPr>
              <a:t>118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7EADD39-2D7E-744B-2C80-9B55B5924E47}"/>
              </a:ext>
            </a:extLst>
          </p:cNvPr>
          <p:cNvSpPr/>
          <p:nvPr/>
        </p:nvSpPr>
        <p:spPr>
          <a:xfrm>
            <a:off x="4368800" y="3657600"/>
            <a:ext cx="4089400" cy="5588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8E21C71-DDA3-6CC0-3067-498096100B7C}"/>
              </a:ext>
            </a:extLst>
          </p:cNvPr>
          <p:cNvSpPr/>
          <p:nvPr/>
        </p:nvSpPr>
        <p:spPr>
          <a:xfrm>
            <a:off x="4495800" y="3759200"/>
            <a:ext cx="533400" cy="3556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ECC9233-145E-8ABD-1AD5-516D670F15FD}"/>
              </a:ext>
            </a:extLst>
          </p:cNvPr>
          <p:cNvSpPr txBox="1"/>
          <p:nvPr/>
        </p:nvSpPr>
        <p:spPr>
          <a:xfrm>
            <a:off x="4495800" y="3759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71826"/>
                </a:solidFill>
                <a:latin typeface="Aptos" panose="020B0004020202020204" pitchFamily="34" charset="0"/>
              </a:rPr>
              <a:t>P3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6E01CE1-5474-0AD8-55F9-BEF9AFCF2FD7}"/>
              </a:ext>
            </a:extLst>
          </p:cNvPr>
          <p:cNvSpPr txBox="1"/>
          <p:nvPr/>
        </p:nvSpPr>
        <p:spPr>
          <a:xfrm>
            <a:off x="5181600" y="3746500"/>
            <a:ext cx="187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Comportamiento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D53B2B9-4FD4-7489-DE3F-251365B40D32}"/>
              </a:ext>
            </a:extLst>
          </p:cNvPr>
          <p:cNvSpPr txBox="1"/>
          <p:nvPr/>
        </p:nvSpPr>
        <p:spPr>
          <a:xfrm>
            <a:off x="7112000" y="3784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35D0BA"/>
                </a:solidFill>
                <a:latin typeface="Bahnschrift" panose="020B0502040204020203" pitchFamily="34" charset="0"/>
              </a:rPr>
              <a:t>9/9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78BFC40-D907-375F-378E-D86EF3E37806}"/>
              </a:ext>
            </a:extLst>
          </p:cNvPr>
          <p:cNvSpPr txBox="1"/>
          <p:nvPr/>
        </p:nvSpPr>
        <p:spPr>
          <a:xfrm>
            <a:off x="7747000" y="3771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100" b="1">
                <a:solidFill>
                  <a:srgbClr val="AFC2CC"/>
                </a:solidFill>
                <a:latin typeface="Bahnschrift" panose="020B0502040204020203" pitchFamily="34" charset="0"/>
              </a:rPr>
              <a:t>109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345F612B-68A2-D079-D9BE-83AAB7DF8268}"/>
              </a:ext>
            </a:extLst>
          </p:cNvPr>
          <p:cNvSpPr/>
          <p:nvPr/>
        </p:nvSpPr>
        <p:spPr>
          <a:xfrm>
            <a:off x="4368800" y="4368800"/>
            <a:ext cx="4089400" cy="5588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5F413FF1-28BE-5247-60D2-226A10923151}"/>
              </a:ext>
            </a:extLst>
          </p:cNvPr>
          <p:cNvSpPr/>
          <p:nvPr/>
        </p:nvSpPr>
        <p:spPr>
          <a:xfrm>
            <a:off x="4495800" y="4470400"/>
            <a:ext cx="533400" cy="3556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F68998A-BEC5-4752-5257-46DF53733F48}"/>
              </a:ext>
            </a:extLst>
          </p:cNvPr>
          <p:cNvSpPr txBox="1"/>
          <p:nvPr/>
        </p:nvSpPr>
        <p:spPr>
          <a:xfrm>
            <a:off x="4495800" y="44704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71826"/>
                </a:solidFill>
                <a:latin typeface="Aptos" panose="020B0004020202020204" pitchFamily="34" charset="0"/>
              </a:rPr>
              <a:t>P4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7C99F66-BDE9-654D-B60B-7D70FBE01995}"/>
              </a:ext>
            </a:extLst>
          </p:cNvPr>
          <p:cNvSpPr txBox="1"/>
          <p:nvPr/>
        </p:nvSpPr>
        <p:spPr>
          <a:xfrm>
            <a:off x="5181600" y="4457700"/>
            <a:ext cx="187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Señal básica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AE70A66-48CA-0A54-D18D-201D19BE89C9}"/>
              </a:ext>
            </a:extLst>
          </p:cNvPr>
          <p:cNvSpPr txBox="1"/>
          <p:nvPr/>
        </p:nvSpPr>
        <p:spPr>
          <a:xfrm>
            <a:off x="7112000" y="4495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35D0BA"/>
                </a:solidFill>
                <a:latin typeface="Bahnschrift" panose="020B0502040204020203" pitchFamily="34" charset="0"/>
              </a:rPr>
              <a:t>5/9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DDDA5E3-2B9B-3C99-A980-02C0B4B9942A}"/>
              </a:ext>
            </a:extLst>
          </p:cNvPr>
          <p:cNvSpPr txBox="1"/>
          <p:nvPr/>
        </p:nvSpPr>
        <p:spPr>
          <a:xfrm>
            <a:off x="7747000" y="44831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100" b="1">
                <a:solidFill>
                  <a:srgbClr val="AFC2CC"/>
                </a:solidFill>
                <a:latin typeface="Bahnschrift" panose="020B0502040204020203" pitchFamily="34" charset="0"/>
              </a:rPr>
              <a:t>133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068A3A0-DAD4-59BB-FFB4-3B9708FCDB02}"/>
              </a:ext>
            </a:extLst>
          </p:cNvPr>
          <p:cNvSpPr txBox="1"/>
          <p:nvPr/>
        </p:nvSpPr>
        <p:spPr>
          <a:xfrm>
            <a:off x="7035800" y="5257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00">
                <a:solidFill>
                  <a:srgbClr val="6F8794"/>
                </a:solidFill>
                <a:latin typeface="Aptos" panose="020B0004020202020204" pitchFamily="34" charset="0"/>
              </a:rPr>
              <a:t>cobertura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C3FC52F-A479-43FA-7794-19DC52183404}"/>
              </a:ext>
            </a:extLst>
          </p:cNvPr>
          <p:cNvSpPr txBox="1"/>
          <p:nvPr/>
        </p:nvSpPr>
        <p:spPr>
          <a:xfrm>
            <a:off x="7747000" y="5257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00">
                <a:solidFill>
                  <a:srgbClr val="6F8794"/>
                </a:solidFill>
                <a:latin typeface="Aptos" panose="020B0004020202020204" pitchFamily="34" charset="0"/>
              </a:rPr>
              <a:t>filas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15F44951-9291-E591-24F9-8BB5A93C0D90}"/>
              </a:ext>
            </a:extLst>
          </p:cNvPr>
          <p:cNvSpPr/>
          <p:nvPr/>
        </p:nvSpPr>
        <p:spPr>
          <a:xfrm>
            <a:off x="8991600" y="1498600"/>
            <a:ext cx="2590800" cy="41910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FF9B54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CB1D2E3-402B-D466-EB91-561CD65DD128}"/>
              </a:ext>
            </a:extLst>
          </p:cNvPr>
          <p:cNvSpPr txBox="1"/>
          <p:nvPr/>
        </p:nvSpPr>
        <p:spPr>
          <a:xfrm>
            <a:off x="9220200" y="1727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FF9B54"/>
                </a:solidFill>
                <a:latin typeface="Aptos" panose="020B0004020202020204" pitchFamily="34" charset="0"/>
              </a:rPr>
              <a:t>ROUTER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3F6EFF2-EB13-46E8-D6A9-26D9832CFEBE}"/>
              </a:ext>
            </a:extLst>
          </p:cNvPr>
          <p:cNvSpPr txBox="1"/>
          <p:nvPr/>
        </p:nvSpPr>
        <p:spPr>
          <a:xfrm>
            <a:off x="9220200" y="2171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 b="1">
                <a:solidFill>
                  <a:srgbClr val="F3F7F9"/>
                </a:solidFill>
                <a:latin typeface="Bahnschrift SemiBold" panose="020B0502040204020203" pitchFamily="34" charset="0"/>
              </a:rPr>
              <a:t>SERVER_EVENT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7DE505D-D96F-FC81-742C-27A5D6FE78E2}"/>
              </a:ext>
            </a:extLst>
          </p:cNvPr>
          <p:cNvCxnSpPr/>
          <p:nvPr/>
        </p:nvCxnSpPr>
        <p:spPr>
          <a:xfrm>
            <a:off x="9220200" y="2743200"/>
            <a:ext cx="21336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69E6126-10C3-0C31-C84A-290DD34BB44F}"/>
              </a:ext>
            </a:extLst>
          </p:cNvPr>
          <p:cNvSpPr/>
          <p:nvPr/>
        </p:nvSpPr>
        <p:spPr>
          <a:xfrm>
            <a:off x="9220200" y="3098800"/>
            <a:ext cx="914400" cy="3302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1821124-826C-9B9E-59EA-3FE6174AA691}"/>
              </a:ext>
            </a:extLst>
          </p:cNvPr>
          <p:cNvSpPr txBox="1"/>
          <p:nvPr/>
        </p:nvSpPr>
        <p:spPr>
          <a:xfrm>
            <a:off x="9220200" y="30988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JSONL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1D2F12EE-3D8D-CCD5-9B9D-439E48760A95}"/>
              </a:ext>
            </a:extLst>
          </p:cNvPr>
          <p:cNvSpPr/>
          <p:nvPr/>
        </p:nvSpPr>
        <p:spPr>
          <a:xfrm>
            <a:off x="10261600" y="3098800"/>
            <a:ext cx="1092200" cy="3302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42F4BD2-75AF-FF42-5E22-CFF16F4A00F1}"/>
              </a:ext>
            </a:extLst>
          </p:cNvPr>
          <p:cNvSpPr txBox="1"/>
          <p:nvPr/>
        </p:nvSpPr>
        <p:spPr>
          <a:xfrm>
            <a:off x="10261600" y="3098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DISCORD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C0DC12D-9C9D-6B82-45A7-16019CE3BDD4}"/>
              </a:ext>
            </a:extLst>
          </p:cNvPr>
          <p:cNvSpPr txBox="1"/>
          <p:nvPr/>
        </p:nvSpPr>
        <p:spPr>
          <a:xfrm>
            <a:off x="9220200" y="37338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AFC2CC"/>
                </a:solidFill>
                <a:latin typeface="Aptos" panose="020B0004020202020204" pitchFamily="34" charset="0"/>
              </a:rPr>
              <a:t>Enruta · normaliza
persiste · notifica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392CCD4-A141-706D-ACC4-E88A74E8224F}"/>
              </a:ext>
            </a:extLst>
          </p:cNvPr>
          <p:cNvSpPr txBox="1"/>
          <p:nvPr/>
        </p:nvSpPr>
        <p:spPr>
          <a:xfrm>
            <a:off x="9220200" y="48768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700" b="1">
                <a:solidFill>
                  <a:srgbClr val="FF9B54"/>
                </a:solidFill>
                <a:latin typeface="Bahnschrift SemiBold" panose="020B0502040204020203" pitchFamily="34" charset="0"/>
              </a:rPr>
              <a:t>NO DETECTA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EFF0EDDB-3DC6-12B6-5FE8-DCB74A5AC4B0}"/>
              </a:ext>
            </a:extLst>
          </p:cNvPr>
          <p:cNvSpPr/>
          <p:nvPr/>
        </p:nvSpPr>
        <p:spPr>
          <a:xfrm>
            <a:off x="609600" y="5918200"/>
            <a:ext cx="10972800" cy="4064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DA108E1-6D7C-774F-FB25-EDEBF9079863}"/>
              </a:ext>
            </a:extLst>
          </p:cNvPr>
          <p:cNvSpPr txBox="1"/>
          <p:nvPr/>
        </p:nvSpPr>
        <p:spPr>
          <a:xfrm>
            <a:off x="736600" y="60198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 b="1">
                <a:solidFill>
                  <a:srgbClr val="F3F7F9"/>
                </a:solidFill>
                <a:latin typeface="Aptos" panose="020B0004020202020204" pitchFamily="34" charset="0"/>
              </a:rPr>
              <a:t>379 = filas CLIENT_EVENT emitidas/exportadas, incluidas repeticiones · no 379 alertas únicas</a:t>
            </a:r>
          </a:p>
        </p:txBody>
      </p:sp>
    </p:spTree>
    <p:extLst>
      <p:ext uri="{BB962C8B-B14F-4D97-AF65-F5344CB8AC3E}">
        <p14:creationId xmlns:p14="http://schemas.microsoft.com/office/powerpoint/2010/main" val="59415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7727B6-C12B-2AC2-F761-9A0E12ED9796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RESULTADO PRINCIPAL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B754F9-C741-F400-2C18-3C9A41D62BEE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Artifacts custom: detección específica en 9 de 9 técnicas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63A950B-7FAA-0488-1BE3-FC9E9C4F69FB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C4D4B94-146D-A3DA-FBDC-649CA75A255A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08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40162D-BF07-25EF-03EB-727C64ADB66C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Analisis_Tecnicas_TFM_Velociraptor.xlsx · Dashboard y 05_Artifacts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ED234D-2979-28B3-74CD-8D997FB3DB31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6BC2CD8-3082-430C-ACA4-E6D4BB9A9F74}"/>
              </a:ext>
            </a:extLst>
          </p:cNvPr>
          <p:cNvSpPr/>
          <p:nvPr/>
        </p:nvSpPr>
        <p:spPr>
          <a:xfrm>
            <a:off x="609600" y="1498600"/>
            <a:ext cx="3302000" cy="4470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F76F2E-A6EC-F34A-1329-906C37248FF3}"/>
              </a:ext>
            </a:extLst>
          </p:cNvPr>
          <p:cNvSpPr txBox="1"/>
          <p:nvPr/>
        </p:nvSpPr>
        <p:spPr>
          <a:xfrm>
            <a:off x="889000" y="18034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 b="1">
                <a:solidFill>
                  <a:srgbClr val="35D0BA"/>
                </a:solidFill>
                <a:latin typeface="Aptos" panose="020B0004020202020204" pitchFamily="34" charset="0"/>
              </a:rPr>
              <a:t>COBERTURA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7F75539-B3E3-0729-3E81-EE2F6CF9AABA}"/>
              </a:ext>
            </a:extLst>
          </p:cNvPr>
          <p:cNvSpPr txBox="1"/>
          <p:nvPr/>
        </p:nvSpPr>
        <p:spPr>
          <a:xfrm>
            <a:off x="889000" y="22860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5600" b="1">
                <a:solidFill>
                  <a:srgbClr val="F3F7F9"/>
                </a:solidFill>
                <a:latin typeface="Bahnschrift SemiBold" panose="020B0502040204020203" pitchFamily="34" charset="0"/>
              </a:rPr>
              <a:t>9/9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607FCF-49B2-22D5-0E7F-8DAE7EAE6531}"/>
              </a:ext>
            </a:extLst>
          </p:cNvPr>
          <p:cNvSpPr/>
          <p:nvPr/>
        </p:nvSpPr>
        <p:spPr>
          <a:xfrm>
            <a:off x="10033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FB628A4-87CD-D7FC-9682-0CF0FB4F4845}"/>
              </a:ext>
            </a:extLst>
          </p:cNvPr>
          <p:cNvSpPr/>
          <p:nvPr/>
        </p:nvSpPr>
        <p:spPr>
          <a:xfrm>
            <a:off x="12827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E9EAF6-D0F0-2AFC-B71C-7B2874015E2E}"/>
              </a:ext>
            </a:extLst>
          </p:cNvPr>
          <p:cNvSpPr/>
          <p:nvPr/>
        </p:nvSpPr>
        <p:spPr>
          <a:xfrm>
            <a:off x="15621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3A30CF-624A-884D-6628-5660E7B2E9F9}"/>
              </a:ext>
            </a:extLst>
          </p:cNvPr>
          <p:cNvSpPr/>
          <p:nvPr/>
        </p:nvSpPr>
        <p:spPr>
          <a:xfrm>
            <a:off x="18415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D7C622C-D5D8-1229-BA55-980076EEC7F7}"/>
              </a:ext>
            </a:extLst>
          </p:cNvPr>
          <p:cNvSpPr/>
          <p:nvPr/>
        </p:nvSpPr>
        <p:spPr>
          <a:xfrm>
            <a:off x="21209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EC2184D-6F81-581B-2D41-B23E8A5802A7}"/>
              </a:ext>
            </a:extLst>
          </p:cNvPr>
          <p:cNvSpPr/>
          <p:nvPr/>
        </p:nvSpPr>
        <p:spPr>
          <a:xfrm>
            <a:off x="24003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C5EC419-A6CD-15B0-CA05-398E9AB95C68}"/>
              </a:ext>
            </a:extLst>
          </p:cNvPr>
          <p:cNvSpPr/>
          <p:nvPr/>
        </p:nvSpPr>
        <p:spPr>
          <a:xfrm>
            <a:off x="26797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964BD52-D3BB-7FAA-50AC-59E546DFAFAC}"/>
              </a:ext>
            </a:extLst>
          </p:cNvPr>
          <p:cNvSpPr/>
          <p:nvPr/>
        </p:nvSpPr>
        <p:spPr>
          <a:xfrm>
            <a:off x="29591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04E17B0-BC74-9B09-EC38-1DBB905A1346}"/>
              </a:ext>
            </a:extLst>
          </p:cNvPr>
          <p:cNvSpPr/>
          <p:nvPr/>
        </p:nvSpPr>
        <p:spPr>
          <a:xfrm>
            <a:off x="3238500" y="35814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8E9141C-A78D-447B-E49A-68677217020F}"/>
              </a:ext>
            </a:extLst>
          </p:cNvPr>
          <p:cNvSpPr txBox="1"/>
          <p:nvPr/>
        </p:nvSpPr>
        <p:spPr>
          <a:xfrm>
            <a:off x="889000" y="39751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200" b="1">
                <a:solidFill>
                  <a:srgbClr val="AFC2CC"/>
                </a:solidFill>
                <a:latin typeface="Aptos" panose="020B0004020202020204" pitchFamily="34" charset="0"/>
              </a:rPr>
              <a:t>técnicas detectadas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C2C1D06-D873-993E-41AB-08C6EC5FFDE3}"/>
              </a:ext>
            </a:extLst>
          </p:cNvPr>
          <p:cNvCxnSpPr/>
          <p:nvPr/>
        </p:nvCxnSpPr>
        <p:spPr>
          <a:xfrm>
            <a:off x="889000" y="4508500"/>
            <a:ext cx="27432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34D6406-B0B7-C8E2-085E-D77BF2FFEBB6}"/>
              </a:ext>
            </a:extLst>
          </p:cNvPr>
          <p:cNvSpPr txBox="1"/>
          <p:nvPr/>
        </p:nvSpPr>
        <p:spPr>
          <a:xfrm>
            <a:off x="889000" y="47625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3200" b="1">
                <a:solidFill>
                  <a:srgbClr val="FF9B54"/>
                </a:solidFill>
                <a:latin typeface="Bahnschrift SemiBold" panose="020B0502040204020203" pitchFamily="34" charset="0"/>
              </a:rPr>
              <a:t>379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A423FF-08F1-ECE7-25E7-C602E4CE07C5}"/>
              </a:ext>
            </a:extLst>
          </p:cNvPr>
          <p:cNvSpPr txBox="1"/>
          <p:nvPr/>
        </p:nvSpPr>
        <p:spPr>
          <a:xfrm>
            <a:off x="889000" y="53721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filas CLIENT_EVENT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F2E4E12-1CDA-1666-66B1-B27B6217E699}"/>
              </a:ext>
            </a:extLst>
          </p:cNvPr>
          <p:cNvSpPr txBox="1"/>
          <p:nvPr/>
        </p:nvSpPr>
        <p:spPr>
          <a:xfrm>
            <a:off x="4445000" y="1600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DISTRIBUCIÓN POR PERFIL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960FB11-B7FF-94AE-82AC-E4D5FBC34AFF}"/>
              </a:ext>
            </a:extLst>
          </p:cNvPr>
          <p:cNvSpPr txBox="1"/>
          <p:nvPr/>
        </p:nvSpPr>
        <p:spPr>
          <a:xfrm>
            <a:off x="4445000" y="2209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E24A4A"/>
                </a:solidFill>
                <a:latin typeface="Bahnschrift" panose="020B0502040204020203" pitchFamily="34" charset="0"/>
              </a:rPr>
              <a:t>P1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B83959DB-674B-1876-2C71-43D040630208}"/>
              </a:ext>
            </a:extLst>
          </p:cNvPr>
          <p:cNvSpPr/>
          <p:nvPr/>
        </p:nvSpPr>
        <p:spPr>
          <a:xfrm>
            <a:off x="5080000" y="2184400"/>
            <a:ext cx="5359400" cy="3556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E132EB8-0EC6-DD82-1814-871C828DFEBB}"/>
              </a:ext>
            </a:extLst>
          </p:cNvPr>
          <p:cNvSpPr/>
          <p:nvPr/>
        </p:nvSpPr>
        <p:spPr>
          <a:xfrm>
            <a:off x="5080000" y="2184400"/>
            <a:ext cx="765810" cy="355600"/>
          </a:xfrm>
          <a:prstGeom prst="round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7F20E88-8179-C25A-F0B7-F7ACB9F2773F}"/>
              </a:ext>
            </a:extLst>
          </p:cNvPr>
          <p:cNvSpPr txBox="1"/>
          <p:nvPr/>
        </p:nvSpPr>
        <p:spPr>
          <a:xfrm>
            <a:off x="10566400" y="21971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400" b="1">
                <a:solidFill>
                  <a:srgbClr val="F3F7F9"/>
                </a:solidFill>
                <a:latin typeface="Bahnschrift" panose="020B0502040204020203" pitchFamily="34" charset="0"/>
              </a:rPr>
              <a:t>19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D3D9E65-F4A8-0D29-B21F-9F1CB211A7DD}"/>
              </a:ext>
            </a:extLst>
          </p:cNvPr>
          <p:cNvSpPr txBox="1"/>
          <p:nvPr/>
        </p:nvSpPr>
        <p:spPr>
          <a:xfrm>
            <a:off x="4445000" y="3048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FF9B54"/>
                </a:solidFill>
                <a:latin typeface="Bahnschrift" panose="020B0502040204020203" pitchFamily="34" charset="0"/>
              </a:rPr>
              <a:t>P2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2318E9A-1CCC-BE33-81A3-9673C8973606}"/>
              </a:ext>
            </a:extLst>
          </p:cNvPr>
          <p:cNvSpPr/>
          <p:nvPr/>
        </p:nvSpPr>
        <p:spPr>
          <a:xfrm>
            <a:off x="5080000" y="3022600"/>
            <a:ext cx="5359400" cy="3556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BFAA59DB-6BC3-B052-B0FE-383EBDC5A2AC}"/>
              </a:ext>
            </a:extLst>
          </p:cNvPr>
          <p:cNvSpPr/>
          <p:nvPr/>
        </p:nvSpPr>
        <p:spPr>
          <a:xfrm>
            <a:off x="5080000" y="3022600"/>
            <a:ext cx="4754880" cy="355600"/>
          </a:xfrm>
          <a:prstGeom prst="round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853414C-3BD6-39F9-B5F1-CE8F30FB4BAA}"/>
              </a:ext>
            </a:extLst>
          </p:cNvPr>
          <p:cNvSpPr txBox="1"/>
          <p:nvPr/>
        </p:nvSpPr>
        <p:spPr>
          <a:xfrm>
            <a:off x="10566400" y="3035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400" b="1">
                <a:solidFill>
                  <a:srgbClr val="F3F7F9"/>
                </a:solidFill>
                <a:latin typeface="Bahnschrift" panose="020B0502040204020203" pitchFamily="34" charset="0"/>
              </a:rPr>
              <a:t>118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0ACE906-1C5B-F811-EC83-07E2BA9BB797}"/>
              </a:ext>
            </a:extLst>
          </p:cNvPr>
          <p:cNvSpPr txBox="1"/>
          <p:nvPr/>
        </p:nvSpPr>
        <p:spPr>
          <a:xfrm>
            <a:off x="4445000" y="3886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35D0BA"/>
                </a:solidFill>
                <a:latin typeface="Bahnschrift" panose="020B0502040204020203" pitchFamily="34" charset="0"/>
              </a:rPr>
              <a:t>P3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4A7B3F51-3B23-ABF3-DDB3-2396EE21D5AD}"/>
              </a:ext>
            </a:extLst>
          </p:cNvPr>
          <p:cNvSpPr/>
          <p:nvPr/>
        </p:nvSpPr>
        <p:spPr>
          <a:xfrm>
            <a:off x="5080000" y="3860800"/>
            <a:ext cx="5359400" cy="3556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33FCEE1E-6B5C-B500-63D8-BA65A3007FB1}"/>
              </a:ext>
            </a:extLst>
          </p:cNvPr>
          <p:cNvSpPr/>
          <p:nvPr/>
        </p:nvSpPr>
        <p:spPr>
          <a:xfrm>
            <a:off x="5080000" y="3860800"/>
            <a:ext cx="4391660" cy="3556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0F34659-DE8E-56A0-CB10-C9ED581827BF}"/>
              </a:ext>
            </a:extLst>
          </p:cNvPr>
          <p:cNvSpPr txBox="1"/>
          <p:nvPr/>
        </p:nvSpPr>
        <p:spPr>
          <a:xfrm>
            <a:off x="10566400" y="38735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400" b="1">
                <a:solidFill>
                  <a:srgbClr val="F3F7F9"/>
                </a:solidFill>
                <a:latin typeface="Bahnschrift" panose="020B0502040204020203" pitchFamily="34" charset="0"/>
              </a:rPr>
              <a:t>109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0620876-0038-89BA-02D5-FACCD235927E}"/>
              </a:ext>
            </a:extLst>
          </p:cNvPr>
          <p:cNvSpPr txBox="1"/>
          <p:nvPr/>
        </p:nvSpPr>
        <p:spPr>
          <a:xfrm>
            <a:off x="4445000" y="47244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7DD3A8"/>
                </a:solidFill>
                <a:latin typeface="Bahnschrift" panose="020B0502040204020203" pitchFamily="34" charset="0"/>
              </a:rPr>
              <a:t>P4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3C1B00AE-AC1E-FF6D-CA5F-5615F1D225C6}"/>
              </a:ext>
            </a:extLst>
          </p:cNvPr>
          <p:cNvSpPr/>
          <p:nvPr/>
        </p:nvSpPr>
        <p:spPr>
          <a:xfrm>
            <a:off x="5080000" y="4699000"/>
            <a:ext cx="5359400" cy="3556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C5628D4F-2593-2ECB-840B-4C9065FD2C3A}"/>
              </a:ext>
            </a:extLst>
          </p:cNvPr>
          <p:cNvSpPr/>
          <p:nvPr/>
        </p:nvSpPr>
        <p:spPr>
          <a:xfrm>
            <a:off x="5080000" y="4699000"/>
            <a:ext cx="5359400" cy="355600"/>
          </a:xfrm>
          <a:prstGeom prst="roundRect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06595D5-2579-916E-B2FD-83E855398E2D}"/>
              </a:ext>
            </a:extLst>
          </p:cNvPr>
          <p:cNvSpPr txBox="1"/>
          <p:nvPr/>
        </p:nvSpPr>
        <p:spPr>
          <a:xfrm>
            <a:off x="10566400" y="47117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400" b="1">
                <a:solidFill>
                  <a:srgbClr val="F3F7F9"/>
                </a:solidFill>
                <a:latin typeface="Bahnschrift" panose="020B0502040204020203" pitchFamily="34" charset="0"/>
              </a:rPr>
              <a:t>133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BA7941A-8683-5312-88F7-7E7AEEABC8AE}"/>
              </a:ext>
            </a:extLst>
          </p:cNvPr>
          <p:cNvSpPr txBox="1"/>
          <p:nvPr/>
        </p:nvSpPr>
        <p:spPr>
          <a:xfrm>
            <a:off x="4445000" y="5486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P1–P4 se solapan y pueden emitir varias filas para una misma ejecución.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659BAFD0-49FA-C603-1691-12099D96F09D}"/>
              </a:ext>
            </a:extLst>
          </p:cNvPr>
          <p:cNvSpPr/>
          <p:nvPr/>
        </p:nvSpPr>
        <p:spPr>
          <a:xfrm>
            <a:off x="8712200" y="5994400"/>
            <a:ext cx="2590800" cy="3048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33CB0CC-A760-D5C6-2757-750E94F507BA}"/>
              </a:ext>
            </a:extLst>
          </p:cNvPr>
          <p:cNvSpPr txBox="1"/>
          <p:nvPr/>
        </p:nvSpPr>
        <p:spPr>
          <a:xfrm>
            <a:off x="8712200" y="59944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FF9B54"/>
                </a:solidFill>
                <a:latin typeface="Aptos" panose="020B0004020202020204" pitchFamily="34" charset="0"/>
              </a:rPr>
              <a:t>VOLUMEN ≠ COBERTURA</a:t>
            </a:r>
          </a:p>
        </p:txBody>
      </p:sp>
    </p:spTree>
    <p:extLst>
      <p:ext uri="{BB962C8B-B14F-4D97-AF65-F5344CB8AC3E}">
        <p14:creationId xmlns:p14="http://schemas.microsoft.com/office/powerpoint/2010/main" val="136445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DF3A53-E58C-D0A0-B716-EFED8C17D661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ARTIFACTS PÚBLICOS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120DDA-989A-31EB-6D7E-0F856918BCC4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Seis campañas aportaron visibilidad; solo Hayabusa detectó 3/9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8CAB03-5DF2-FA57-7AD4-9470533CE34F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7C0519-B8D3-D545-918F-CE9BA6298B19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09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9B4F79-07AD-560D-131C-67296AB025C4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Analisis_Tecnicas_TFM_Velociraptor.xlsx · 05_Artifacts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7FABB8-B4AE-EEBD-33ED-C6A97823E74C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EE57749-D585-2C40-6574-42EF2FCBB68C}"/>
              </a:ext>
            </a:extLst>
          </p:cNvPr>
          <p:cNvSpPr/>
          <p:nvPr/>
        </p:nvSpPr>
        <p:spPr>
          <a:xfrm>
            <a:off x="609600" y="1524000"/>
            <a:ext cx="1600200" cy="1092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D46DDC-CDA6-6130-8FAC-8C0258C30FAB}"/>
              </a:ext>
            </a:extLst>
          </p:cNvPr>
          <p:cNvSpPr txBox="1"/>
          <p:nvPr/>
        </p:nvSpPr>
        <p:spPr>
          <a:xfrm>
            <a:off x="6096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Process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E9AA659-34AF-0FF5-14BB-302114DEA39E}"/>
              </a:ext>
            </a:extLst>
          </p:cNvPr>
          <p:cNvSpPr txBox="1"/>
          <p:nvPr/>
        </p:nvSpPr>
        <p:spPr>
          <a:xfrm>
            <a:off x="6096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Bahnschrift" panose="020B0502040204020203" pitchFamily="34" charset="0"/>
              </a:rPr>
              <a:t>VISIBILIDAD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95BC5EB-08ED-9556-F88E-FFA49E29CEDC}"/>
              </a:ext>
            </a:extLst>
          </p:cNvPr>
          <p:cNvSpPr/>
          <p:nvPr/>
        </p:nvSpPr>
        <p:spPr>
          <a:xfrm>
            <a:off x="2438400" y="1524000"/>
            <a:ext cx="1600200" cy="1092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105FD3F-3B59-324F-1EF0-B8A464379786}"/>
              </a:ext>
            </a:extLst>
          </p:cNvPr>
          <p:cNvSpPr txBox="1"/>
          <p:nvPr/>
        </p:nvSpPr>
        <p:spPr>
          <a:xfrm>
            <a:off x="24384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Service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741EEB-16B9-024E-BE35-F6C6326E367A}"/>
              </a:ext>
            </a:extLst>
          </p:cNvPr>
          <p:cNvSpPr txBox="1"/>
          <p:nvPr/>
        </p:nvSpPr>
        <p:spPr>
          <a:xfrm>
            <a:off x="24384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Bahnschrift" panose="020B0502040204020203" pitchFamily="34" charset="0"/>
              </a:rPr>
              <a:t>VISIBILIDAD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A41CEC7-DAE1-DF06-2EDE-DDE6D07F85E4}"/>
              </a:ext>
            </a:extLst>
          </p:cNvPr>
          <p:cNvSpPr/>
          <p:nvPr/>
        </p:nvSpPr>
        <p:spPr>
          <a:xfrm>
            <a:off x="4267200" y="1524000"/>
            <a:ext cx="1600200" cy="1092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E98E65D-CE10-3D57-DDBD-9B81426C7A71}"/>
              </a:ext>
            </a:extLst>
          </p:cNvPr>
          <p:cNvSpPr txBox="1"/>
          <p:nvPr/>
        </p:nvSpPr>
        <p:spPr>
          <a:xfrm>
            <a:off x="42672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Sysmon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327961-0E94-BD16-BB11-4BB2EFF1ECD1}"/>
              </a:ext>
            </a:extLst>
          </p:cNvPr>
          <p:cNvSpPr txBox="1"/>
          <p:nvPr/>
        </p:nvSpPr>
        <p:spPr>
          <a:xfrm>
            <a:off x="42672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Bahnschrift" panose="020B0502040204020203" pitchFamily="34" charset="0"/>
              </a:rPr>
              <a:t>VISIBILIDAD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A77B07A-EA90-C2C5-A6C7-C217819C701C}"/>
              </a:ext>
            </a:extLst>
          </p:cNvPr>
          <p:cNvSpPr/>
          <p:nvPr/>
        </p:nvSpPr>
        <p:spPr>
          <a:xfrm>
            <a:off x="6096000" y="1524000"/>
            <a:ext cx="1600200" cy="1092200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F1E7BC-591E-FB3C-90E8-6584B50B91D0}"/>
              </a:ext>
            </a:extLst>
          </p:cNvPr>
          <p:cNvSpPr txBox="1"/>
          <p:nvPr/>
        </p:nvSpPr>
        <p:spPr>
          <a:xfrm>
            <a:off x="60960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Hayabusa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11B649F-E31C-03C1-2BCC-5062CF753DCF}"/>
              </a:ext>
            </a:extLst>
          </p:cNvPr>
          <p:cNvSpPr txBox="1"/>
          <p:nvPr/>
        </p:nvSpPr>
        <p:spPr>
          <a:xfrm>
            <a:off x="60960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FFFFFF"/>
                </a:solidFill>
                <a:latin typeface="Bahnschrift" panose="020B0502040204020203" pitchFamily="34" charset="0"/>
              </a:rPr>
              <a:t>3/9 DET.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8319D17-B524-ABBC-561D-415CE16AFF95}"/>
              </a:ext>
            </a:extLst>
          </p:cNvPr>
          <p:cNvSpPr/>
          <p:nvPr/>
        </p:nvSpPr>
        <p:spPr>
          <a:xfrm>
            <a:off x="7924800" y="1524000"/>
            <a:ext cx="1600200" cy="1092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2A474F-1393-E0BC-C047-D9149E71887A}"/>
              </a:ext>
            </a:extLst>
          </p:cNvPr>
          <p:cNvSpPr txBox="1"/>
          <p:nvPr/>
        </p:nvSpPr>
        <p:spPr>
          <a:xfrm>
            <a:off x="79248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ETW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F115A2A-43D8-838D-25AC-5021AEDA725A}"/>
              </a:ext>
            </a:extLst>
          </p:cNvPr>
          <p:cNvSpPr txBox="1"/>
          <p:nvPr/>
        </p:nvSpPr>
        <p:spPr>
          <a:xfrm>
            <a:off x="79248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Bahnschrift" panose="020B0502040204020203" pitchFamily="34" charset="0"/>
              </a:rPr>
              <a:t>VISIBILIDAD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2509C0F-B201-4850-40B1-746952F60C3B}"/>
              </a:ext>
            </a:extLst>
          </p:cNvPr>
          <p:cNvSpPr/>
          <p:nvPr/>
        </p:nvSpPr>
        <p:spPr>
          <a:xfrm>
            <a:off x="9753600" y="1524000"/>
            <a:ext cx="1600200" cy="10922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E84DA66-CCBD-F228-56E3-4DA85923F988}"/>
              </a:ext>
            </a:extLst>
          </p:cNvPr>
          <p:cNvSpPr txBox="1"/>
          <p:nvPr/>
        </p:nvSpPr>
        <p:spPr>
          <a:xfrm>
            <a:off x="9753600" y="1765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F3F7F9"/>
                </a:solidFill>
                <a:latin typeface="Aptos" panose="020B0004020202020204" pitchFamily="34" charset="0"/>
              </a:rPr>
              <a:t>TrackNet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F925275-D752-DC6F-BB60-7E45512CF543}"/>
              </a:ext>
            </a:extLst>
          </p:cNvPr>
          <p:cNvSpPr txBox="1"/>
          <p:nvPr/>
        </p:nvSpPr>
        <p:spPr>
          <a:xfrm>
            <a:off x="97536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00" b="1">
                <a:solidFill>
                  <a:srgbClr val="35D0BA"/>
                </a:solidFill>
                <a:latin typeface="Bahnschrift" panose="020B0502040204020203" pitchFamily="34" charset="0"/>
              </a:rPr>
              <a:t>VISIBILIDAD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2A9E0BC-CA16-9C4B-0A38-4468ABC30880}"/>
              </a:ext>
            </a:extLst>
          </p:cNvPr>
          <p:cNvSpPr/>
          <p:nvPr/>
        </p:nvSpPr>
        <p:spPr>
          <a:xfrm>
            <a:off x="609600" y="3022600"/>
            <a:ext cx="3225800" cy="2590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1885E9C-0416-3ED5-3C0E-96EBB841A535}"/>
              </a:ext>
            </a:extLst>
          </p:cNvPr>
          <p:cNvSpPr/>
          <p:nvPr/>
        </p:nvSpPr>
        <p:spPr>
          <a:xfrm>
            <a:off x="609600" y="3022600"/>
            <a:ext cx="63500" cy="2590800"/>
          </a:xfrm>
          <a:prstGeom prst="rect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F7EEEE8-3D0F-ED63-6A31-4F4D10A5D386}"/>
              </a:ext>
            </a:extLst>
          </p:cNvPr>
          <p:cNvSpPr txBox="1"/>
          <p:nvPr/>
        </p:nvSpPr>
        <p:spPr>
          <a:xfrm>
            <a:off x="8382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HAYABUSA · SIGMA CH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0CF3F04-A094-8D10-B10F-BD552FDF3E83}"/>
              </a:ext>
            </a:extLst>
          </p:cNvPr>
          <p:cNvSpPr txBox="1"/>
          <p:nvPr/>
        </p:nvSpPr>
        <p:spPr>
          <a:xfrm>
            <a:off x="838200" y="3454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3/9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8D90194-2A71-6430-1F52-BF1B2DBCDE68}"/>
              </a:ext>
            </a:extLst>
          </p:cNvPr>
          <p:cNvSpPr txBox="1"/>
          <p:nvPr/>
        </p:nvSpPr>
        <p:spPr>
          <a:xfrm>
            <a:off x="838200" y="4038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TEC-001 · TEC-003 · TEC-005
Única detección pública específica.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4D287E4-4A62-B043-71E4-BF8AA8118FCB}"/>
              </a:ext>
            </a:extLst>
          </p:cNvPr>
          <p:cNvSpPr/>
          <p:nvPr/>
        </p:nvSpPr>
        <p:spPr>
          <a:xfrm>
            <a:off x="4140200" y="3022600"/>
            <a:ext cx="3530600" cy="2590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105B4D6-457B-231C-50D4-24BB66EB8DE3}"/>
              </a:ext>
            </a:extLst>
          </p:cNvPr>
          <p:cNvSpPr/>
          <p:nvPr/>
        </p:nvSpPr>
        <p:spPr>
          <a:xfrm>
            <a:off x="4140200" y="3022600"/>
            <a:ext cx="63500" cy="2590800"/>
          </a:xfrm>
          <a:prstGeom prst="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C79E7BF-E12B-4668-8930-CA3905E59E69}"/>
              </a:ext>
            </a:extLst>
          </p:cNvPr>
          <p:cNvSpPr txBox="1"/>
          <p:nvPr/>
        </p:nvSpPr>
        <p:spPr>
          <a:xfrm>
            <a:off x="4368800" y="320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ETW MONITORING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8FC41A0-DDF7-069D-0E79-AE85625D5FB0}"/>
              </a:ext>
            </a:extLst>
          </p:cNvPr>
          <p:cNvSpPr txBox="1"/>
          <p:nvPr/>
        </p:nvSpPr>
        <p:spPr>
          <a:xfrm>
            <a:off x="4368800" y="3454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143 / 16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774247-10EC-2CE4-7723-F5844E7D52AA}"/>
              </a:ext>
            </a:extLst>
          </p:cNvPr>
          <p:cNvSpPr txBox="1"/>
          <p:nvPr/>
        </p:nvSpPr>
        <p:spPr>
          <a:xfrm>
            <a:off x="4368800" y="40386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Filas TEC / FP de telemetría.
Telemetría sí; detección específica no.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456F50C-64CF-74FC-0581-79119815430F}"/>
              </a:ext>
            </a:extLst>
          </p:cNvPr>
          <p:cNvSpPr/>
          <p:nvPr/>
        </p:nvSpPr>
        <p:spPr>
          <a:xfrm>
            <a:off x="7975600" y="3022600"/>
            <a:ext cx="3606800" cy="2590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887C37A-452D-DB9C-6A6D-5011EC0B538A}"/>
              </a:ext>
            </a:extLst>
          </p:cNvPr>
          <p:cNvSpPr/>
          <p:nvPr/>
        </p:nvSpPr>
        <p:spPr>
          <a:xfrm>
            <a:off x="7975600" y="3022600"/>
            <a:ext cx="63500" cy="2590800"/>
          </a:xfrm>
          <a:prstGeom prst="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99F41FA-90AC-5F8B-1A66-64EBDEB33928}"/>
              </a:ext>
            </a:extLst>
          </p:cNvPr>
          <p:cNvSpPr txBox="1"/>
          <p:nvPr/>
        </p:nvSpPr>
        <p:spPr>
          <a:xfrm>
            <a:off x="8204200" y="3200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TRACKNETWORK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D7C0248-AA43-97D5-B7B5-2E5100D6BB7E}"/>
              </a:ext>
            </a:extLst>
          </p:cNvPr>
          <p:cNvSpPr txBox="1"/>
          <p:nvPr/>
        </p:nvSpPr>
        <p:spPr>
          <a:xfrm>
            <a:off x="8204200" y="3454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128 / 12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41AE6BC-F45B-9D88-CFAC-FA2E894B4D84}"/>
              </a:ext>
            </a:extLst>
          </p:cNvPr>
          <p:cNvSpPr txBox="1"/>
          <p:nvPr/>
        </p:nvSpPr>
        <p:spPr>
          <a:xfrm>
            <a:off x="8204200" y="4038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Contexto de conexión. PID=0 / ProcInfo vacío. No inspecciona paquetes como un NIDS.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F127E1B-88D9-C3BC-73C4-12CAC752A166}"/>
              </a:ext>
            </a:extLst>
          </p:cNvPr>
          <p:cNvSpPr txBox="1"/>
          <p:nvPr/>
        </p:nvSpPr>
        <p:spPr>
          <a:xfrm>
            <a:off x="609600" y="58928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ProcessCreation, ServiceCreation y SysmonLogForward se interpretan como visibilidad o evidencia forense según su capa.</a:t>
            </a:r>
          </a:p>
        </p:txBody>
      </p:sp>
    </p:spTree>
    <p:extLst>
      <p:ext uri="{BB962C8B-B14F-4D97-AF65-F5344CB8AC3E}">
        <p14:creationId xmlns:p14="http://schemas.microsoft.com/office/powerpoint/2010/main" val="806134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EE2282-27CF-A70B-307B-097A8F2E808F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RENDIMIENTO OBSERVADO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5CDB97-9BF9-42B6-D5E7-24EDCBC58B20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Bajo coste medio del cliente; picos puntuales y alcance acotado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2C020CB-36A2-8B2E-049D-96BED85834D4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72EF5D2-2F9F-15E0-2D14-6805ABCC97A6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10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2A0273-B79F-576A-E3E3-7252749AF518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TFM_BENCHMARK_RENDIMIENTO.xlsx · 01_RESUMEN_EJECUTIVO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1CF52B-027C-AC44-CE8E-224E73CD7567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7A1DA45-2BB1-8205-887D-E82BCBF5DDB2}"/>
              </a:ext>
            </a:extLst>
          </p:cNvPr>
          <p:cNvSpPr/>
          <p:nvPr/>
        </p:nvSpPr>
        <p:spPr>
          <a:xfrm>
            <a:off x="6959600" y="1320800"/>
            <a:ext cx="4622800" cy="3302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9B31FD-B03F-5A50-DAAE-E3A5E944A890}"/>
              </a:ext>
            </a:extLst>
          </p:cNvPr>
          <p:cNvSpPr txBox="1"/>
          <p:nvPr/>
        </p:nvSpPr>
        <p:spPr>
          <a:xfrm>
            <a:off x="6959600" y="13208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71826"/>
                </a:solidFill>
                <a:latin typeface="Aptos" panose="020B0004020202020204" pitchFamily="34" charset="0"/>
              </a:rPr>
              <a:t>9/9 RUNS VÁLIDOS · 3 ESCENARIOS × 3 REPETICIONES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9F5BC62-ACCF-5E44-DC05-12A475F17CA2}"/>
              </a:ext>
            </a:extLst>
          </p:cNvPr>
          <p:cNvSpPr/>
          <p:nvPr/>
        </p:nvSpPr>
        <p:spPr>
          <a:xfrm>
            <a:off x="609600" y="1803400"/>
            <a:ext cx="2921000" cy="1803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0786310-3EE5-BE28-1D5C-B9F6223FCF3D}"/>
              </a:ext>
            </a:extLst>
          </p:cNvPr>
          <p:cNvSpPr/>
          <p:nvPr/>
        </p:nvSpPr>
        <p:spPr>
          <a:xfrm>
            <a:off x="609600" y="1803400"/>
            <a:ext cx="63500" cy="1803400"/>
          </a:xfrm>
          <a:prstGeom prst="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F7BBD5-365E-17B6-350C-670C00A245D1}"/>
              </a:ext>
            </a:extLst>
          </p:cNvPr>
          <p:cNvSpPr txBox="1"/>
          <p:nvPr/>
        </p:nvSpPr>
        <p:spPr>
          <a:xfrm>
            <a:off x="838200" y="1981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CPU MEDIA · RUNNER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B5E422-F6ED-4EC1-260F-92F658A3E076}"/>
              </a:ext>
            </a:extLst>
          </p:cNvPr>
          <p:cNvSpPr txBox="1"/>
          <p:nvPr/>
        </p:nvSpPr>
        <p:spPr>
          <a:xfrm>
            <a:off x="838200" y="2235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0,95 %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8F51992-3373-DB03-BE35-E04BB5DCF1C7}"/>
              </a:ext>
            </a:extLst>
          </p:cNvPr>
          <p:cNvSpPr txBox="1"/>
          <p:nvPr/>
        </p:nvSpPr>
        <p:spPr>
          <a:xfrm>
            <a:off x="838200" y="28194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Promedio del cliente en VR_TEC_RUNNER.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C3667D9-233F-7816-E983-A21B04DD5B51}"/>
              </a:ext>
            </a:extLst>
          </p:cNvPr>
          <p:cNvSpPr/>
          <p:nvPr/>
        </p:nvSpPr>
        <p:spPr>
          <a:xfrm>
            <a:off x="609600" y="3810000"/>
            <a:ext cx="2921000" cy="18034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F0276B0-348A-069B-874A-D14830818DCF}"/>
              </a:ext>
            </a:extLst>
          </p:cNvPr>
          <p:cNvSpPr/>
          <p:nvPr/>
        </p:nvSpPr>
        <p:spPr>
          <a:xfrm>
            <a:off x="609600" y="3810000"/>
            <a:ext cx="63500" cy="1803400"/>
          </a:xfrm>
          <a:prstGeom prst="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F9DA11E-158B-8CE1-281A-30CAD97A68FE}"/>
              </a:ext>
            </a:extLst>
          </p:cNvPr>
          <p:cNvSpPr txBox="1"/>
          <p:nvPr/>
        </p:nvSpPr>
        <p:spPr>
          <a:xfrm>
            <a:off x="838200" y="39878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PICO CPU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7FB4A0-5F92-B360-2ABB-AAF862DA9CD3}"/>
              </a:ext>
            </a:extLst>
          </p:cNvPr>
          <p:cNvSpPr txBox="1"/>
          <p:nvPr/>
        </p:nvSpPr>
        <p:spPr>
          <a:xfrm>
            <a:off x="838200" y="42418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54 %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7565F64-1A81-D577-AF64-3BF4716C6B5C}"/>
              </a:ext>
            </a:extLst>
          </p:cNvPr>
          <p:cNvSpPr txBox="1"/>
          <p:nvPr/>
        </p:nvSpPr>
        <p:spPr>
          <a:xfrm>
            <a:off x="838200" y="48260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>
                <a:solidFill>
                  <a:srgbClr val="AFC2CC"/>
                </a:solidFill>
                <a:latin typeface="Aptos" panose="020B0004020202020204" pitchFamily="34" charset="0"/>
              </a:rPr>
              <a:t>Pico puntual observado en el cliente.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A2D36E7-244D-EF17-5C25-B19D76061BD5}"/>
              </a:ext>
            </a:extLst>
          </p:cNvPr>
          <p:cNvSpPr/>
          <p:nvPr/>
        </p:nvSpPr>
        <p:spPr>
          <a:xfrm>
            <a:off x="3733800" y="1803400"/>
            <a:ext cx="2921000" cy="38100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150A088-CE29-6256-954E-BDD073CA888E}"/>
              </a:ext>
            </a:extLst>
          </p:cNvPr>
          <p:cNvSpPr/>
          <p:nvPr/>
        </p:nvSpPr>
        <p:spPr>
          <a:xfrm>
            <a:off x="3733800" y="1803400"/>
            <a:ext cx="63500" cy="3810000"/>
          </a:xfrm>
          <a:prstGeom prst="rect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8D8BED-287E-A1C4-2391-A265E07949B6}"/>
              </a:ext>
            </a:extLst>
          </p:cNvPr>
          <p:cNvSpPr txBox="1"/>
          <p:nvPr/>
        </p:nvSpPr>
        <p:spPr>
          <a:xfrm>
            <a:off x="3962400" y="1981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 b="1">
                <a:solidFill>
                  <a:srgbClr val="AFC2CC"/>
                </a:solidFill>
                <a:latin typeface="Aptos" panose="020B0004020202020204" pitchFamily="34" charset="0"/>
              </a:rPr>
              <a:t>RAM MEDIA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86682FD-2F80-4620-9792-4E4AC9482FF6}"/>
              </a:ext>
            </a:extLst>
          </p:cNvPr>
          <p:cNvSpPr txBox="1"/>
          <p:nvPr/>
        </p:nvSpPr>
        <p:spPr>
          <a:xfrm>
            <a:off x="3962400" y="2235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 b="1">
                <a:solidFill>
                  <a:srgbClr val="F3F7F9"/>
                </a:solidFill>
                <a:latin typeface="Bahnschrift SemiBold" panose="020B0502040204020203" pitchFamily="34" charset="0"/>
              </a:rPr>
              <a:t>≈ 57 MB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255F6AC-FDFE-D1DB-C4C9-A9888278750A}"/>
              </a:ext>
            </a:extLst>
          </p:cNvPr>
          <p:cNvSpPr txBox="1"/>
          <p:nvPr/>
        </p:nvSpPr>
        <p:spPr>
          <a:xfrm>
            <a:off x="3962400" y="28194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nb-NO" sz="1100">
                <a:solidFill>
                  <a:srgbClr val="AFC2CC"/>
                </a:solidFill>
                <a:latin typeface="Aptos" panose="020B0004020202020204" pitchFamily="34" charset="0"/>
              </a:rPr>
              <a:t>57,48 MB idle · 57,42 MB runner.</a:t>
            </a:r>
            <a:endParaRPr lang="es-ES" sz="1100">
              <a:solidFill>
                <a:srgbClr val="AFC2CC"/>
              </a:solidFill>
              <a:latin typeface="Aptos" panose="020B00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3F121D4-4F51-9F96-AB96-FFA72CF9E209}"/>
              </a:ext>
            </a:extLst>
          </p:cNvPr>
          <p:cNvSpPr txBox="1"/>
          <p:nvPr/>
        </p:nvSpPr>
        <p:spPr>
          <a:xfrm>
            <a:off x="7086600" y="1905000"/>
            <a:ext cx="416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 b="1">
                <a:solidFill>
                  <a:srgbClr val="AFC2CC"/>
                </a:solidFill>
                <a:latin typeface="Aptos" panose="020B0004020202020204" pitchFamily="34" charset="0"/>
              </a:rPr>
              <a:t>DURACIÓN MEDIA POR ESCENARIO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ADCDF09-5901-BBE7-B481-A9A3257B661F}"/>
              </a:ext>
            </a:extLst>
          </p:cNvPr>
          <p:cNvSpPr txBox="1"/>
          <p:nvPr/>
        </p:nvSpPr>
        <p:spPr>
          <a:xfrm>
            <a:off x="7086600" y="22479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AFC2CC"/>
                </a:solidFill>
                <a:latin typeface="Aptos" panose="020B0004020202020204" pitchFamily="34" charset="0"/>
              </a:rPr>
              <a:t>BASELINE_NO_VR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3C96E2E-675C-D9C9-0D88-8D50C464C9F9}"/>
              </a:ext>
            </a:extLst>
          </p:cNvPr>
          <p:cNvSpPr/>
          <p:nvPr/>
        </p:nvSpPr>
        <p:spPr>
          <a:xfrm>
            <a:off x="7086600" y="2476500"/>
            <a:ext cx="3810000" cy="3302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41D4D60-79B0-50F6-256E-2CFD26A0839D}"/>
              </a:ext>
            </a:extLst>
          </p:cNvPr>
          <p:cNvSpPr/>
          <p:nvPr/>
        </p:nvSpPr>
        <p:spPr>
          <a:xfrm>
            <a:off x="7086600" y="2476500"/>
            <a:ext cx="2205990" cy="330200"/>
          </a:xfrm>
          <a:prstGeom prst="roundRect">
            <a:avLst/>
          </a:prstGeom>
          <a:solidFill>
            <a:srgbClr val="6F87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CB34243-16E9-61E2-C32B-838667FF18BE}"/>
              </a:ext>
            </a:extLst>
          </p:cNvPr>
          <p:cNvSpPr txBox="1"/>
          <p:nvPr/>
        </p:nvSpPr>
        <p:spPr>
          <a:xfrm>
            <a:off x="10998200" y="2489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50" b="1">
                <a:solidFill>
                  <a:srgbClr val="F3F7F9"/>
                </a:solidFill>
                <a:latin typeface="Bahnschrift" panose="020B0502040204020203" pitchFamily="34" charset="0"/>
              </a:rPr>
              <a:t>182,69 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0AF1D4B-E2E5-DB8F-9CD7-354DE57663CA}"/>
              </a:ext>
            </a:extLst>
          </p:cNvPr>
          <p:cNvSpPr txBox="1"/>
          <p:nvPr/>
        </p:nvSpPr>
        <p:spPr>
          <a:xfrm>
            <a:off x="7086600" y="3200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AFC2CC"/>
                </a:solidFill>
                <a:latin typeface="Aptos" panose="020B0004020202020204" pitchFamily="34" charset="0"/>
              </a:rPr>
              <a:t>VR_IDLE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BE457DA2-8D11-DDC6-E505-C1449571F95E}"/>
              </a:ext>
            </a:extLst>
          </p:cNvPr>
          <p:cNvSpPr/>
          <p:nvPr/>
        </p:nvSpPr>
        <p:spPr>
          <a:xfrm>
            <a:off x="7086600" y="3429000"/>
            <a:ext cx="3810000" cy="3302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55CC739-2AE3-4F80-C460-648DAD3A65D3}"/>
              </a:ext>
            </a:extLst>
          </p:cNvPr>
          <p:cNvSpPr/>
          <p:nvPr/>
        </p:nvSpPr>
        <p:spPr>
          <a:xfrm>
            <a:off x="7086600" y="3429000"/>
            <a:ext cx="2192020" cy="330200"/>
          </a:xfrm>
          <a:prstGeom prst="roundRect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055C244-0137-1F06-9814-07C10D0D3296}"/>
              </a:ext>
            </a:extLst>
          </p:cNvPr>
          <p:cNvSpPr txBox="1"/>
          <p:nvPr/>
        </p:nvSpPr>
        <p:spPr>
          <a:xfrm>
            <a:off x="10998200" y="34417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50" b="1">
                <a:solidFill>
                  <a:srgbClr val="F3F7F9"/>
                </a:solidFill>
                <a:latin typeface="Bahnschrift" panose="020B0502040204020203" pitchFamily="34" charset="0"/>
              </a:rPr>
              <a:t>181,57 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37CE0E0-84CB-80D2-5D06-0128AB471E8F}"/>
              </a:ext>
            </a:extLst>
          </p:cNvPr>
          <p:cNvSpPr txBox="1"/>
          <p:nvPr/>
        </p:nvSpPr>
        <p:spPr>
          <a:xfrm>
            <a:off x="7086600" y="41529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AFC2CC"/>
                </a:solidFill>
                <a:latin typeface="Aptos" panose="020B0004020202020204" pitchFamily="34" charset="0"/>
              </a:rPr>
              <a:t>VR_TEC_RUNNER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FA047D48-C332-659B-431A-ADEF2C8CD7A1}"/>
              </a:ext>
            </a:extLst>
          </p:cNvPr>
          <p:cNvSpPr/>
          <p:nvPr/>
        </p:nvSpPr>
        <p:spPr>
          <a:xfrm>
            <a:off x="7086600" y="4381500"/>
            <a:ext cx="3810000" cy="330200"/>
          </a:xfrm>
          <a:prstGeom prst="roundRect">
            <a:avLst/>
          </a:prstGeom>
          <a:solidFill>
            <a:srgbClr val="173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536317DD-3763-AADA-DE0C-B21520C4496F}"/>
              </a:ext>
            </a:extLst>
          </p:cNvPr>
          <p:cNvSpPr/>
          <p:nvPr/>
        </p:nvSpPr>
        <p:spPr>
          <a:xfrm>
            <a:off x="7086600" y="4381500"/>
            <a:ext cx="3810000" cy="330200"/>
          </a:xfrm>
          <a:prstGeom prst="roundRect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2C7EE64-44DB-CE15-CE28-B9DF2AD718AD}"/>
              </a:ext>
            </a:extLst>
          </p:cNvPr>
          <p:cNvSpPr txBox="1"/>
          <p:nvPr/>
        </p:nvSpPr>
        <p:spPr>
          <a:xfrm>
            <a:off x="10998200" y="4394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50" b="1">
                <a:solidFill>
                  <a:srgbClr val="F3F7F9"/>
                </a:solidFill>
                <a:latin typeface="Bahnschrift" panose="020B0502040204020203" pitchFamily="34" charset="0"/>
              </a:rPr>
              <a:t>315,60 s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D14832A8-C36A-05F4-2910-AADB2575FF79}"/>
              </a:ext>
            </a:extLst>
          </p:cNvPr>
          <p:cNvSpPr/>
          <p:nvPr/>
        </p:nvSpPr>
        <p:spPr>
          <a:xfrm>
            <a:off x="609600" y="5892800"/>
            <a:ext cx="10972800" cy="4318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42C6BF5-C5C5-B16E-B635-B9C8D8D35310}"/>
              </a:ext>
            </a:extLst>
          </p:cNvPr>
          <p:cNvSpPr txBox="1"/>
          <p:nvPr/>
        </p:nvSpPr>
        <p:spPr>
          <a:xfrm>
            <a:off x="736600" y="60071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950" b="1">
                <a:solidFill>
                  <a:srgbClr val="AFC2CC"/>
                </a:solidFill>
                <a:latin typeface="Aptos" panose="020B0004020202020204" pitchFamily="34" charset="0"/>
              </a:rPr>
              <a:t>SERVER_GUI excluido · RunnerStillRunningAtEnd=True = WARN no bloqueante · resultados no extrapolables a producción</a:t>
            </a:r>
          </a:p>
        </p:txBody>
      </p:sp>
    </p:spTree>
    <p:extLst>
      <p:ext uri="{BB962C8B-B14F-4D97-AF65-F5344CB8AC3E}">
        <p14:creationId xmlns:p14="http://schemas.microsoft.com/office/powerpoint/2010/main" val="353055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7810B3-05E0-DB92-F5CC-41DA29F230A3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COMPARACIÓN CON WAZUH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404D6A-9A62-8B64-AF98-655B9879E690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Velociraptor custom alcanzó la mayor cobertura específica del laboratorio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C0346BE-9AE1-5675-19D0-5F7E34AA2E6D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DA38195-B97D-78A1-F149-EBC64B0AA99D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11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49215A-A998-9DC9-FF7B-CDA7AE55EE3B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Analisis_Tecnicas_TFM_Velociraptor.xlsx · 06_Comparativa_Wazuh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8C45D-A639-4109-CFD0-03B6B9ECDAB0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65848C9-8316-85E5-DF56-F5BDC61DE3E5}"/>
              </a:ext>
            </a:extLst>
          </p:cNvPr>
          <p:cNvSpPr/>
          <p:nvPr/>
        </p:nvSpPr>
        <p:spPr>
          <a:xfrm>
            <a:off x="609600" y="1498600"/>
            <a:ext cx="7493000" cy="4241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031B601-B462-C28F-FD3F-32BE3F6D538A}"/>
              </a:ext>
            </a:extLst>
          </p:cNvPr>
          <p:cNvSpPr txBox="1"/>
          <p:nvPr/>
        </p:nvSpPr>
        <p:spPr>
          <a:xfrm>
            <a:off x="863600" y="17526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50" b="1">
                <a:solidFill>
                  <a:srgbClr val="AFC2CC"/>
                </a:solidFill>
                <a:latin typeface="Aptos" panose="020B0004020202020204" pitchFamily="34" charset="0"/>
              </a:rPr>
              <a:t>COBERTURA POR TÉCNICAS ÚNICAS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0898BFF-1F3E-08F6-1D69-F96903135002}"/>
              </a:ext>
            </a:extLst>
          </p:cNvPr>
          <p:cNvSpPr txBox="1"/>
          <p:nvPr/>
        </p:nvSpPr>
        <p:spPr>
          <a:xfrm>
            <a:off x="863600" y="236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 b="1">
                <a:solidFill>
                  <a:srgbClr val="F3F7F9"/>
                </a:solidFill>
                <a:latin typeface="Aptos" panose="020B0004020202020204" pitchFamily="34" charset="0"/>
              </a:rPr>
              <a:t>Velociraptor custom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E495AF1-37B6-C9E8-8CFD-A3E150EA7535}"/>
              </a:ext>
            </a:extLst>
          </p:cNvPr>
          <p:cNvSpPr/>
          <p:nvPr/>
        </p:nvSpPr>
        <p:spPr>
          <a:xfrm>
            <a:off x="31496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B501E4F-74F4-D974-8B8D-4633B4DEA145}"/>
              </a:ext>
            </a:extLst>
          </p:cNvPr>
          <p:cNvSpPr/>
          <p:nvPr/>
        </p:nvSpPr>
        <p:spPr>
          <a:xfrm>
            <a:off x="34544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7172AF2-0A0F-D351-6371-CCE1D10268FF}"/>
              </a:ext>
            </a:extLst>
          </p:cNvPr>
          <p:cNvSpPr/>
          <p:nvPr/>
        </p:nvSpPr>
        <p:spPr>
          <a:xfrm>
            <a:off x="37592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3B04461-F1EF-923B-DFE0-3023EE90B637}"/>
              </a:ext>
            </a:extLst>
          </p:cNvPr>
          <p:cNvSpPr/>
          <p:nvPr/>
        </p:nvSpPr>
        <p:spPr>
          <a:xfrm>
            <a:off x="40640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0C5786F-74AF-A662-AB67-85B674AA07BA}"/>
              </a:ext>
            </a:extLst>
          </p:cNvPr>
          <p:cNvSpPr/>
          <p:nvPr/>
        </p:nvSpPr>
        <p:spPr>
          <a:xfrm>
            <a:off x="43688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374CC03-BC33-E5A5-97D1-5A767D68B67C}"/>
              </a:ext>
            </a:extLst>
          </p:cNvPr>
          <p:cNvSpPr/>
          <p:nvPr/>
        </p:nvSpPr>
        <p:spPr>
          <a:xfrm>
            <a:off x="46736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DD38588-9B61-D0FF-0D75-B8B2099A7F5C}"/>
              </a:ext>
            </a:extLst>
          </p:cNvPr>
          <p:cNvSpPr/>
          <p:nvPr/>
        </p:nvSpPr>
        <p:spPr>
          <a:xfrm>
            <a:off x="49784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2D393D9-3FA2-FFE2-B0D8-8B125C148669}"/>
              </a:ext>
            </a:extLst>
          </p:cNvPr>
          <p:cNvSpPr/>
          <p:nvPr/>
        </p:nvSpPr>
        <p:spPr>
          <a:xfrm>
            <a:off x="52832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B4744AC-6B3A-32A7-6085-F034C12C1B8E}"/>
              </a:ext>
            </a:extLst>
          </p:cNvPr>
          <p:cNvSpPr/>
          <p:nvPr/>
        </p:nvSpPr>
        <p:spPr>
          <a:xfrm>
            <a:off x="5588000" y="2387600"/>
            <a:ext cx="177800" cy="177800"/>
          </a:xfrm>
          <a:prstGeom prst="ellipse">
            <a:avLst/>
          </a:prstGeom>
          <a:solidFill>
            <a:srgbClr val="35D0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7BF82C4-0904-53A0-A432-A1F1E945F412}"/>
              </a:ext>
            </a:extLst>
          </p:cNvPr>
          <p:cNvSpPr txBox="1"/>
          <p:nvPr/>
        </p:nvSpPr>
        <p:spPr>
          <a:xfrm>
            <a:off x="6070600" y="23368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200" b="1">
                <a:solidFill>
                  <a:srgbClr val="35D0BA"/>
                </a:solidFill>
                <a:latin typeface="Bahnschrift" panose="020B0502040204020203" pitchFamily="34" charset="0"/>
              </a:rPr>
              <a:t>9/9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A912319-6E73-5E5F-F8F1-029E50E2E249}"/>
              </a:ext>
            </a:extLst>
          </p:cNvPr>
          <p:cNvSpPr txBox="1"/>
          <p:nvPr/>
        </p:nvSpPr>
        <p:spPr>
          <a:xfrm>
            <a:off x="863600" y="3149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 b="1">
                <a:solidFill>
                  <a:srgbClr val="F3F7F9"/>
                </a:solidFill>
                <a:latin typeface="Aptos" panose="020B0004020202020204" pitchFamily="34" charset="0"/>
              </a:rPr>
              <a:t>Wazuh · unión*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9FDE71A-F385-8025-DB9F-700E29B364D6}"/>
              </a:ext>
            </a:extLst>
          </p:cNvPr>
          <p:cNvSpPr/>
          <p:nvPr/>
        </p:nvSpPr>
        <p:spPr>
          <a:xfrm>
            <a:off x="31496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4D06C6D-1F4E-7AB3-1F29-2DE4FAC25884}"/>
              </a:ext>
            </a:extLst>
          </p:cNvPr>
          <p:cNvSpPr/>
          <p:nvPr/>
        </p:nvSpPr>
        <p:spPr>
          <a:xfrm>
            <a:off x="34544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3DF605D-242A-2D0B-DB76-625B05295FC1}"/>
              </a:ext>
            </a:extLst>
          </p:cNvPr>
          <p:cNvSpPr/>
          <p:nvPr/>
        </p:nvSpPr>
        <p:spPr>
          <a:xfrm>
            <a:off x="37592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AC4DEE0-FD94-C60D-7AA9-3F1AE3ED6905}"/>
              </a:ext>
            </a:extLst>
          </p:cNvPr>
          <p:cNvSpPr/>
          <p:nvPr/>
        </p:nvSpPr>
        <p:spPr>
          <a:xfrm>
            <a:off x="40640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DD24059-B0E2-11CF-BE40-16257EC4FA44}"/>
              </a:ext>
            </a:extLst>
          </p:cNvPr>
          <p:cNvSpPr/>
          <p:nvPr/>
        </p:nvSpPr>
        <p:spPr>
          <a:xfrm>
            <a:off x="43688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3514CD7-35E6-CAC3-8291-9DDE9313C678}"/>
              </a:ext>
            </a:extLst>
          </p:cNvPr>
          <p:cNvSpPr/>
          <p:nvPr/>
        </p:nvSpPr>
        <p:spPr>
          <a:xfrm>
            <a:off x="46736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B369012-CB4A-5645-F2BB-92100CECDA6C}"/>
              </a:ext>
            </a:extLst>
          </p:cNvPr>
          <p:cNvSpPr/>
          <p:nvPr/>
        </p:nvSpPr>
        <p:spPr>
          <a:xfrm>
            <a:off x="4978400" y="3175000"/>
            <a:ext cx="177800" cy="177800"/>
          </a:xfrm>
          <a:prstGeom prst="ellipse">
            <a:avLst/>
          </a:prstGeom>
          <a:solidFill>
            <a:srgbClr val="7DD3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0DE4940D-65C3-4257-CC56-A3D1B4296255}"/>
              </a:ext>
            </a:extLst>
          </p:cNvPr>
          <p:cNvSpPr/>
          <p:nvPr/>
        </p:nvSpPr>
        <p:spPr>
          <a:xfrm>
            <a:off x="5283200" y="31750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315A5A62-299D-AFD5-7E58-E05E8D0FBE7B}"/>
              </a:ext>
            </a:extLst>
          </p:cNvPr>
          <p:cNvSpPr/>
          <p:nvPr/>
        </p:nvSpPr>
        <p:spPr>
          <a:xfrm>
            <a:off x="5588000" y="31750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28D7288-352C-1A71-65C9-C345047A7294}"/>
              </a:ext>
            </a:extLst>
          </p:cNvPr>
          <p:cNvSpPr txBox="1"/>
          <p:nvPr/>
        </p:nvSpPr>
        <p:spPr>
          <a:xfrm>
            <a:off x="6070600" y="31242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200" b="1">
                <a:solidFill>
                  <a:srgbClr val="7DD3A8"/>
                </a:solidFill>
                <a:latin typeface="Bahnschrift" panose="020B0502040204020203" pitchFamily="34" charset="0"/>
              </a:rPr>
              <a:t>7/9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4065DAF-3043-821B-4013-1DF44A05B1BE}"/>
              </a:ext>
            </a:extLst>
          </p:cNvPr>
          <p:cNvSpPr txBox="1"/>
          <p:nvPr/>
        </p:nvSpPr>
        <p:spPr>
          <a:xfrm>
            <a:off x="863600" y="3937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 b="1">
                <a:solidFill>
                  <a:srgbClr val="F3F7F9"/>
                </a:solidFill>
                <a:latin typeface="Aptos" panose="020B0004020202020204" pitchFamily="34" charset="0"/>
              </a:rPr>
              <a:t>Wazuh custom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079E875E-9721-39D9-9741-0408494F5C8E}"/>
              </a:ext>
            </a:extLst>
          </p:cNvPr>
          <p:cNvSpPr/>
          <p:nvPr/>
        </p:nvSpPr>
        <p:spPr>
          <a:xfrm>
            <a:off x="3149600" y="3962400"/>
            <a:ext cx="177800" cy="1778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56BED2F0-9D47-D1C7-AD89-4EF95E4330E4}"/>
              </a:ext>
            </a:extLst>
          </p:cNvPr>
          <p:cNvSpPr/>
          <p:nvPr/>
        </p:nvSpPr>
        <p:spPr>
          <a:xfrm>
            <a:off x="3454400" y="3962400"/>
            <a:ext cx="177800" cy="1778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F2EF5810-CD2C-C352-C12E-B8927348D640}"/>
              </a:ext>
            </a:extLst>
          </p:cNvPr>
          <p:cNvSpPr/>
          <p:nvPr/>
        </p:nvSpPr>
        <p:spPr>
          <a:xfrm>
            <a:off x="3759200" y="3962400"/>
            <a:ext cx="177800" cy="1778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EE7C6DDD-FC71-EE91-E808-15FC5FF1CDA8}"/>
              </a:ext>
            </a:extLst>
          </p:cNvPr>
          <p:cNvSpPr/>
          <p:nvPr/>
        </p:nvSpPr>
        <p:spPr>
          <a:xfrm>
            <a:off x="4064000" y="3962400"/>
            <a:ext cx="177800" cy="1778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45952868-8F18-62A4-7542-F3BEAC434D3C}"/>
              </a:ext>
            </a:extLst>
          </p:cNvPr>
          <p:cNvSpPr/>
          <p:nvPr/>
        </p:nvSpPr>
        <p:spPr>
          <a:xfrm>
            <a:off x="4368800" y="39624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FABF6BA5-5DD9-A7AE-9A47-B4B29BBAABA5}"/>
              </a:ext>
            </a:extLst>
          </p:cNvPr>
          <p:cNvSpPr/>
          <p:nvPr/>
        </p:nvSpPr>
        <p:spPr>
          <a:xfrm>
            <a:off x="4673600" y="39624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FAB5376C-06F2-FA03-9CA2-22CFF32DEFD2}"/>
              </a:ext>
            </a:extLst>
          </p:cNvPr>
          <p:cNvSpPr/>
          <p:nvPr/>
        </p:nvSpPr>
        <p:spPr>
          <a:xfrm>
            <a:off x="4978400" y="39624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7B49FF1-020D-4042-AD71-57BE8369CD25}"/>
              </a:ext>
            </a:extLst>
          </p:cNvPr>
          <p:cNvSpPr/>
          <p:nvPr/>
        </p:nvSpPr>
        <p:spPr>
          <a:xfrm>
            <a:off x="5283200" y="39624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8D271D2B-117F-5C62-91AB-C58EC946DA10}"/>
              </a:ext>
            </a:extLst>
          </p:cNvPr>
          <p:cNvSpPr/>
          <p:nvPr/>
        </p:nvSpPr>
        <p:spPr>
          <a:xfrm>
            <a:off x="5588000" y="39624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49B730F-49C0-F982-8AA0-EBFCE0570E1D}"/>
              </a:ext>
            </a:extLst>
          </p:cNvPr>
          <p:cNvSpPr txBox="1"/>
          <p:nvPr/>
        </p:nvSpPr>
        <p:spPr>
          <a:xfrm>
            <a:off x="6070600" y="39116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200" b="1">
                <a:solidFill>
                  <a:srgbClr val="FF9B54"/>
                </a:solidFill>
                <a:latin typeface="Bahnschrift" panose="020B0502040204020203" pitchFamily="34" charset="0"/>
              </a:rPr>
              <a:t>4/9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0495E5C-0BB1-195D-F45F-0736E2F2CD66}"/>
              </a:ext>
            </a:extLst>
          </p:cNvPr>
          <p:cNvSpPr txBox="1"/>
          <p:nvPr/>
        </p:nvSpPr>
        <p:spPr>
          <a:xfrm>
            <a:off x="863600" y="4724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 b="1">
                <a:solidFill>
                  <a:srgbClr val="F3F7F9"/>
                </a:solidFill>
                <a:latin typeface="Aptos" panose="020B0004020202020204" pitchFamily="34" charset="0"/>
              </a:rPr>
              <a:t>Wazuh base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71BD582B-DDDB-90D9-BEDB-E935ADC9C7B5}"/>
              </a:ext>
            </a:extLst>
          </p:cNvPr>
          <p:cNvSpPr/>
          <p:nvPr/>
        </p:nvSpPr>
        <p:spPr>
          <a:xfrm>
            <a:off x="3149600" y="4749800"/>
            <a:ext cx="177800" cy="177800"/>
          </a:xfrm>
          <a:prstGeom prst="ellipse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88AED5ED-0455-486D-4433-9F1D30C50415}"/>
              </a:ext>
            </a:extLst>
          </p:cNvPr>
          <p:cNvSpPr/>
          <p:nvPr/>
        </p:nvSpPr>
        <p:spPr>
          <a:xfrm>
            <a:off x="3454400" y="4749800"/>
            <a:ext cx="177800" cy="177800"/>
          </a:xfrm>
          <a:prstGeom prst="ellipse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8C16CE91-60D5-C9F7-D995-DCF3AF478E61}"/>
              </a:ext>
            </a:extLst>
          </p:cNvPr>
          <p:cNvSpPr/>
          <p:nvPr/>
        </p:nvSpPr>
        <p:spPr>
          <a:xfrm>
            <a:off x="3759200" y="4749800"/>
            <a:ext cx="177800" cy="177800"/>
          </a:xfrm>
          <a:prstGeom prst="ellipse">
            <a:avLst/>
          </a:prstGeom>
          <a:solidFill>
            <a:srgbClr val="E2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08C549B4-6AB6-AC58-1B29-8EEA2AC1E7EB}"/>
              </a:ext>
            </a:extLst>
          </p:cNvPr>
          <p:cNvSpPr/>
          <p:nvPr/>
        </p:nvSpPr>
        <p:spPr>
          <a:xfrm>
            <a:off x="40640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5F08A13-678A-4AB6-EBCC-FA1DDBD0F327}"/>
              </a:ext>
            </a:extLst>
          </p:cNvPr>
          <p:cNvSpPr/>
          <p:nvPr/>
        </p:nvSpPr>
        <p:spPr>
          <a:xfrm>
            <a:off x="43688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A848D2AD-D9F6-ED63-DA0E-CA9BBAA7E32C}"/>
              </a:ext>
            </a:extLst>
          </p:cNvPr>
          <p:cNvSpPr/>
          <p:nvPr/>
        </p:nvSpPr>
        <p:spPr>
          <a:xfrm>
            <a:off x="46736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FA90A93-30F3-3A99-C5DD-E89CD4F99966}"/>
              </a:ext>
            </a:extLst>
          </p:cNvPr>
          <p:cNvSpPr/>
          <p:nvPr/>
        </p:nvSpPr>
        <p:spPr>
          <a:xfrm>
            <a:off x="49784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0E982FFC-C3FA-C0D8-E8B1-E9BC0047D8CB}"/>
              </a:ext>
            </a:extLst>
          </p:cNvPr>
          <p:cNvSpPr/>
          <p:nvPr/>
        </p:nvSpPr>
        <p:spPr>
          <a:xfrm>
            <a:off x="52832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0D9014D2-4744-5D8C-B953-6571A4944B80}"/>
              </a:ext>
            </a:extLst>
          </p:cNvPr>
          <p:cNvSpPr/>
          <p:nvPr/>
        </p:nvSpPr>
        <p:spPr>
          <a:xfrm>
            <a:off x="5588000" y="4749800"/>
            <a:ext cx="177800" cy="177800"/>
          </a:xfrm>
          <a:prstGeom prst="ellipse">
            <a:avLst/>
          </a:prstGeom>
          <a:solidFill>
            <a:srgbClr val="2A49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A5D588A-8714-A0D0-D81B-65CBC046217C}"/>
              </a:ext>
            </a:extLst>
          </p:cNvPr>
          <p:cNvSpPr txBox="1"/>
          <p:nvPr/>
        </p:nvSpPr>
        <p:spPr>
          <a:xfrm>
            <a:off x="6070600" y="4699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200" b="1">
                <a:solidFill>
                  <a:srgbClr val="E24A4A"/>
                </a:solidFill>
                <a:latin typeface="Bahnschrift" panose="020B0502040204020203" pitchFamily="34" charset="0"/>
              </a:rPr>
              <a:t>3/9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47670B9-731B-CEF7-177A-8839B154DD08}"/>
              </a:ext>
            </a:extLst>
          </p:cNvPr>
          <p:cNvSpPr txBox="1"/>
          <p:nvPr/>
        </p:nvSpPr>
        <p:spPr>
          <a:xfrm>
            <a:off x="863600" y="54102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850">
                <a:solidFill>
                  <a:srgbClr val="6F8794"/>
                </a:solidFill>
                <a:latin typeface="Aptos" panose="020B0004020202020204" pitchFamily="34" charset="0"/>
              </a:rPr>
              <a:t>* Unión complementaria base + custom; no es una quinta solución independiente.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40BD0D6-FB24-7699-A080-9A439E7DC774}"/>
              </a:ext>
            </a:extLst>
          </p:cNvPr>
          <p:cNvSpPr/>
          <p:nvPr/>
        </p:nvSpPr>
        <p:spPr>
          <a:xfrm>
            <a:off x="8407400" y="1498600"/>
            <a:ext cx="3175000" cy="4241800"/>
          </a:xfrm>
          <a:prstGeom prst="roundRect">
            <a:avLst/>
          </a:prstGeom>
          <a:solidFill>
            <a:srgbClr val="0A202F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D00BC78-5C74-A00E-7D29-C24D8E8EF09B}"/>
              </a:ext>
            </a:extLst>
          </p:cNvPr>
          <p:cNvSpPr txBox="1"/>
          <p:nvPr/>
        </p:nvSpPr>
        <p:spPr>
          <a:xfrm>
            <a:off x="8661400" y="1778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50" b="1">
                <a:solidFill>
                  <a:srgbClr val="35D0BA"/>
                </a:solidFill>
                <a:latin typeface="Aptos" panose="020B0004020202020204" pitchFamily="34" charset="0"/>
              </a:rPr>
              <a:t>LECTURA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2053A63-A398-248D-1CE2-1400D862491D}"/>
              </a:ext>
            </a:extLst>
          </p:cNvPr>
          <p:cNvSpPr txBox="1"/>
          <p:nvPr/>
        </p:nvSpPr>
        <p:spPr>
          <a:xfrm>
            <a:off x="8661400" y="2260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>
                <a:solidFill>
                  <a:srgbClr val="F3F7F9"/>
                </a:solidFill>
                <a:latin typeface="Aptos Display" panose="020B0004020202020204" pitchFamily="34" charset="0"/>
              </a:rPr>
              <a:t>Más configuración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D5A5CCF-D02A-D460-2F68-5A6178FA568D}"/>
              </a:ext>
            </a:extLst>
          </p:cNvPr>
          <p:cNvSpPr txBox="1"/>
          <p:nvPr/>
        </p:nvSpPr>
        <p:spPr>
          <a:xfrm>
            <a:off x="8661400" y="2768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El modelo de artifacts exige diseñar, probar y refinar la lógica.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2450C192-EC8D-EF54-E2A0-CF18D67EFB9B}"/>
              </a:ext>
            </a:extLst>
          </p:cNvPr>
          <p:cNvCxnSpPr/>
          <p:nvPr/>
        </p:nvCxnSpPr>
        <p:spPr>
          <a:xfrm>
            <a:off x="8661400" y="3797300"/>
            <a:ext cx="26670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E5152EA-D654-5154-A65A-681869E3997A}"/>
              </a:ext>
            </a:extLst>
          </p:cNvPr>
          <p:cNvSpPr txBox="1"/>
          <p:nvPr/>
        </p:nvSpPr>
        <p:spPr>
          <a:xfrm>
            <a:off x="8661400" y="4038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>
                <a:solidFill>
                  <a:srgbClr val="35D0BA"/>
                </a:solidFill>
                <a:latin typeface="Aptos Display" panose="020B0004020202020204" pitchFamily="34" charset="0"/>
              </a:rPr>
              <a:t>Mayor flexibilidad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998E7CD-8F76-1ABC-9CE2-9B37DBCCAC22}"/>
              </a:ext>
            </a:extLst>
          </p:cNvPr>
          <p:cNvSpPr txBox="1"/>
          <p:nvPr/>
        </p:nvSpPr>
        <p:spPr>
          <a:xfrm>
            <a:off x="8661400" y="4546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AFC2CC"/>
                </a:solidFill>
                <a:latin typeface="Aptos" panose="020B0004020202020204" pitchFamily="34" charset="0"/>
              </a:rPr>
              <a:t>P1–P4 adaptan la detección al contexto del laboratorio.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ADE1B79-7744-3D72-3D1F-461CB587CD9E}"/>
              </a:ext>
            </a:extLst>
          </p:cNvPr>
          <p:cNvSpPr txBox="1"/>
          <p:nvPr/>
        </p:nvSpPr>
        <p:spPr>
          <a:xfrm>
            <a:off x="609600" y="5969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050" b="1">
                <a:solidFill>
                  <a:srgbClr val="FF9B54"/>
                </a:solidFill>
                <a:latin typeface="Aptos" panose="020B0004020202020204" pitchFamily="34" charset="0"/>
              </a:rPr>
              <a:t>No se equiparan filas CLIENT_EVENT con archives/alerts de Wazuh.</a:t>
            </a:r>
          </a:p>
        </p:txBody>
      </p:sp>
    </p:spTree>
    <p:extLst>
      <p:ext uri="{BB962C8B-B14F-4D97-AF65-F5344CB8AC3E}">
        <p14:creationId xmlns:p14="http://schemas.microsoft.com/office/powerpoint/2010/main" val="47546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85FD69F-6326-45BE-B7B2-C800BA3E9BF9}"/>
              </a:ext>
            </a:extLst>
          </p:cNvPr>
          <p:cNvSpPr txBox="1"/>
          <p:nvPr/>
        </p:nvSpPr>
        <p:spPr>
          <a:xfrm>
            <a:off x="6096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C2C968-FB3F-C111-4A9B-D8A67069372A}"/>
              </a:ext>
            </a:extLst>
          </p:cNvPr>
          <p:cNvSpPr txBox="1"/>
          <p:nvPr/>
        </p:nvSpPr>
        <p:spPr>
          <a:xfrm>
            <a:off x="609600" y="57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400" b="1">
                <a:solidFill>
                  <a:srgbClr val="F3F7F9"/>
                </a:solidFill>
                <a:latin typeface="Aptos Display" panose="020B0004020202020204" pitchFamily="34" charset="0"/>
              </a:rPr>
              <a:t>Velociraptor puede aproximarse a un HIDS si se diseña la detección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CC43506-6348-89A9-F5D2-40F37031F8F0}"/>
              </a:ext>
            </a:extLst>
          </p:cNvPr>
          <p:cNvCxnSpPr/>
          <p:nvPr/>
        </p:nvCxnSpPr>
        <p:spPr>
          <a:xfrm>
            <a:off x="609600" y="1155700"/>
            <a:ext cx="10972800" cy="0"/>
          </a:xfrm>
          <a:prstGeom prst="line">
            <a:avLst/>
          </a:prstGeom>
          <a:ln w="12700">
            <a:solidFill>
              <a:srgbClr val="2A4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A6FC781-38BA-67C7-9D9D-FF2AADAC57CE}"/>
              </a:ext>
            </a:extLst>
          </p:cNvPr>
          <p:cNvSpPr txBox="1"/>
          <p:nvPr/>
        </p:nvSpPr>
        <p:spPr>
          <a:xfrm>
            <a:off x="11125200" y="317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 b="1">
                <a:solidFill>
                  <a:srgbClr val="AFC2CC"/>
                </a:solidFill>
                <a:latin typeface="Bahnschrift" panose="020B0502040204020203" pitchFamily="34" charset="0"/>
              </a:rPr>
              <a:t>12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000C51-0085-A84B-4CDC-00391DC1E427}"/>
              </a:ext>
            </a:extLst>
          </p:cNvPr>
          <p:cNvSpPr txBox="1"/>
          <p:nvPr/>
        </p:nvSpPr>
        <p:spPr>
          <a:xfrm>
            <a:off x="609600" y="6527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Fuente: TFM.docx · Conclusiones; ambos Excel · resultados y limitaciones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16BADA-BFA2-B754-00B6-F90B5B5E31FF}"/>
              </a:ext>
            </a:extLst>
          </p:cNvPr>
          <p:cNvSpPr txBox="1"/>
          <p:nvPr/>
        </p:nvSpPr>
        <p:spPr>
          <a:xfrm>
            <a:off x="10414000" y="6527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750">
                <a:solidFill>
                  <a:srgbClr val="6F8794"/>
                </a:solidFill>
                <a:latin typeface="Aptos" panose="020B0004020202020204" pitchFamily="34" charset="0"/>
              </a:rPr>
              <a:t>TFM · Defensa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7E277AD-5CB7-BBFE-28D6-D26063ED7A33}"/>
              </a:ext>
            </a:extLst>
          </p:cNvPr>
          <p:cNvSpPr/>
          <p:nvPr/>
        </p:nvSpPr>
        <p:spPr>
          <a:xfrm>
            <a:off x="609600" y="1473200"/>
            <a:ext cx="6908800" cy="1828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35D0BA"/>
            </a:solidFill>
          </a:ln>
          <a:effectLst>
            <a:outerShdw blurRad="127000" dist="50800" dir="5400000" rotWithShape="0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8F9470-765E-A344-1B6B-0F1D0550ED39}"/>
              </a:ext>
            </a:extLst>
          </p:cNvPr>
          <p:cNvSpPr txBox="1"/>
          <p:nvPr/>
        </p:nvSpPr>
        <p:spPr>
          <a:xfrm>
            <a:off x="838200" y="1701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RESPUESTA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EF4AB8-722C-8539-7700-9EF0192FE51B}"/>
              </a:ext>
            </a:extLst>
          </p:cNvPr>
          <p:cNvSpPr txBox="1"/>
          <p:nvPr/>
        </p:nvSpPr>
        <p:spPr>
          <a:xfrm>
            <a:off x="838200" y="21463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200" b="1">
                <a:solidFill>
                  <a:srgbClr val="F3F7F9"/>
                </a:solidFill>
                <a:latin typeface="Aptos Display" panose="020B0004020202020204" pitchFamily="34" charset="0"/>
              </a:rPr>
              <a:t>La telemetría pública no basta por sí sola.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BC7D0A-5AA4-7E14-047D-F41F00094133}"/>
              </a:ext>
            </a:extLst>
          </p:cNvPr>
          <p:cNvSpPr txBox="1"/>
          <p:nvPr/>
        </p:nvSpPr>
        <p:spPr>
          <a:xfrm>
            <a:off x="838200" y="2679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AFC2CC"/>
                </a:solidFill>
                <a:latin typeface="Aptos" panose="020B0004020202020204" pitchFamily="34" charset="0"/>
              </a:rPr>
              <a:t>Con artifacts P1–P4 se obtuvo detección específica 9/9 y un coste medio bajo en el laboratorio.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F214033-6A71-2CC4-F43D-959262A6BE40}"/>
              </a:ext>
            </a:extLst>
          </p:cNvPr>
          <p:cNvSpPr/>
          <p:nvPr/>
        </p:nvSpPr>
        <p:spPr>
          <a:xfrm>
            <a:off x="7823200" y="1473200"/>
            <a:ext cx="3759200" cy="1828800"/>
          </a:xfrm>
          <a:prstGeom prst="roundRect">
            <a:avLst/>
          </a:prstGeom>
          <a:solidFill>
            <a:srgbClr val="E24A4A"/>
          </a:solidFill>
          <a:ln w="12700">
            <a:solidFill>
              <a:srgbClr val="E2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D1A6AE-CD03-F6AE-DF1A-010FE19ABC0C}"/>
              </a:ext>
            </a:extLst>
          </p:cNvPr>
          <p:cNvSpPr txBox="1"/>
          <p:nvPr/>
        </p:nvSpPr>
        <p:spPr>
          <a:xfrm>
            <a:off x="8077200" y="17272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FFFFFF"/>
                </a:solidFill>
                <a:latin typeface="Aptos" panose="020B0004020202020204" pitchFamily="34" charset="0"/>
              </a:rPr>
              <a:t>NO 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44832E-565C-8AF8-0A57-E427B29562F4}"/>
              </a:ext>
            </a:extLst>
          </p:cNvPr>
          <p:cNvSpPr txBox="1"/>
          <p:nvPr/>
        </p:nvSpPr>
        <p:spPr>
          <a:xfrm>
            <a:off x="8077200" y="21717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900" b="1">
                <a:solidFill>
                  <a:srgbClr val="FFFFFF"/>
                </a:solidFill>
                <a:latin typeface="Aptos Display" panose="020B0004020202020204" pitchFamily="34" charset="0"/>
              </a:rPr>
              <a:t>un EDR completo
ni una prueba de producción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3C2139-75C1-73EE-71AE-E08CCF2A072A}"/>
              </a:ext>
            </a:extLst>
          </p:cNvPr>
          <p:cNvSpPr txBox="1"/>
          <p:nvPr/>
        </p:nvSpPr>
        <p:spPr>
          <a:xfrm>
            <a:off x="609600" y="3695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FF9B54"/>
                </a:solidFill>
                <a:latin typeface="Aptos" panose="020B0004020202020204" pitchFamily="34" charset="0"/>
              </a:rPr>
              <a:t>LIMITACIONES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4A60BAF-6C78-5426-AE91-5D631E7BE05C}"/>
              </a:ext>
            </a:extLst>
          </p:cNvPr>
          <p:cNvSpPr/>
          <p:nvPr/>
        </p:nvSpPr>
        <p:spPr>
          <a:xfrm>
            <a:off x="635000" y="4127500"/>
            <a:ext cx="228600" cy="2286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E5E71A1-F09D-AA7B-9850-B0A8F13F4CD7}"/>
              </a:ext>
            </a:extLst>
          </p:cNvPr>
          <p:cNvSpPr txBox="1"/>
          <p:nvPr/>
        </p:nvSpPr>
        <p:spPr>
          <a:xfrm>
            <a:off x="635000" y="41783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50" b="1">
                <a:solidFill>
                  <a:srgbClr val="071826"/>
                </a:solidFill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C4107D-320D-C6C3-E099-6388ADFDC6D4}"/>
              </a:ext>
            </a:extLst>
          </p:cNvPr>
          <p:cNvSpPr txBox="1"/>
          <p:nvPr/>
        </p:nvSpPr>
        <p:spPr>
          <a:xfrm>
            <a:off x="1016000" y="41021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1 VM Windows 10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5FB33CC-E69D-6ABF-B16B-0A5CFE8B3028}"/>
              </a:ext>
            </a:extLst>
          </p:cNvPr>
          <p:cNvSpPr/>
          <p:nvPr/>
        </p:nvSpPr>
        <p:spPr>
          <a:xfrm>
            <a:off x="635000" y="4610100"/>
            <a:ext cx="228600" cy="2286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FFC20D9-3662-05E3-7661-3BE809459916}"/>
              </a:ext>
            </a:extLst>
          </p:cNvPr>
          <p:cNvSpPr txBox="1"/>
          <p:nvPr/>
        </p:nvSpPr>
        <p:spPr>
          <a:xfrm>
            <a:off x="635000" y="46609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50" b="1">
                <a:solidFill>
                  <a:srgbClr val="071826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6AD96F0-6C7C-EE00-F1D5-E0E8DDEDE7A2}"/>
              </a:ext>
            </a:extLst>
          </p:cNvPr>
          <p:cNvSpPr txBox="1"/>
          <p:nvPr/>
        </p:nvSpPr>
        <p:spPr>
          <a:xfrm>
            <a:off x="1016000" y="45847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9 técnicas acotadas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504DA0A-F3F2-5BB9-70ED-03578BF6BA89}"/>
              </a:ext>
            </a:extLst>
          </p:cNvPr>
          <p:cNvSpPr/>
          <p:nvPr/>
        </p:nvSpPr>
        <p:spPr>
          <a:xfrm>
            <a:off x="635000" y="5092700"/>
            <a:ext cx="228600" cy="2286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01C04F8-C7DD-FF77-0049-3848E9D4CD48}"/>
              </a:ext>
            </a:extLst>
          </p:cNvPr>
          <p:cNvSpPr txBox="1"/>
          <p:nvPr/>
        </p:nvSpPr>
        <p:spPr>
          <a:xfrm>
            <a:off x="635000" y="51435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50" b="1">
                <a:solidFill>
                  <a:srgbClr val="071826"/>
                </a:solidFill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EDF225-344B-1286-826A-71410A048E09}"/>
              </a:ext>
            </a:extLst>
          </p:cNvPr>
          <p:cNvSpPr txBox="1"/>
          <p:nvPr/>
        </p:nvSpPr>
        <p:spPr>
          <a:xfrm>
            <a:off x="1016000" y="50673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3 repeticiones / escenario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67FBAF7-F61E-251F-4456-FA9BCB32133F}"/>
              </a:ext>
            </a:extLst>
          </p:cNvPr>
          <p:cNvSpPr/>
          <p:nvPr/>
        </p:nvSpPr>
        <p:spPr>
          <a:xfrm>
            <a:off x="635000" y="5575300"/>
            <a:ext cx="228600" cy="228600"/>
          </a:xfrm>
          <a:prstGeom prst="ellipse">
            <a:avLst/>
          </a:prstGeom>
          <a:solidFill>
            <a:srgbClr val="FF9B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9AA310-87DF-9178-416B-E86884A50805}"/>
              </a:ext>
            </a:extLst>
          </p:cNvPr>
          <p:cNvSpPr txBox="1"/>
          <p:nvPr/>
        </p:nvSpPr>
        <p:spPr>
          <a:xfrm>
            <a:off x="635000" y="5626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750" b="1">
                <a:solidFill>
                  <a:srgbClr val="071826"/>
                </a:solidFill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C8C4C9B-B403-33EB-732C-F8D82F8D11E1}"/>
              </a:ext>
            </a:extLst>
          </p:cNvPr>
          <p:cNvSpPr txBox="1"/>
          <p:nvPr/>
        </p:nvSpPr>
        <p:spPr>
          <a:xfrm>
            <a:off x="1016000" y="55499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Sin extrapolación a producción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9D2EF11-69BA-0346-B56E-CB6647B6B3A7}"/>
              </a:ext>
            </a:extLst>
          </p:cNvPr>
          <p:cNvSpPr txBox="1"/>
          <p:nvPr/>
        </p:nvSpPr>
        <p:spPr>
          <a:xfrm>
            <a:off x="5334000" y="3695700"/>
            <a:ext cx="624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00" b="1">
                <a:solidFill>
                  <a:srgbClr val="35D0BA"/>
                </a:solidFill>
                <a:latin typeface="Aptos" panose="020B0004020202020204" pitchFamily="34" charset="0"/>
              </a:rPr>
              <a:t>TRABAJO FUTURO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C4BBB66-DF37-1888-F6F5-F91003187E86}"/>
              </a:ext>
            </a:extLst>
          </p:cNvPr>
          <p:cNvSpPr/>
          <p:nvPr/>
        </p:nvSpPr>
        <p:spPr>
          <a:xfrm>
            <a:off x="5334000" y="4114800"/>
            <a:ext cx="2870200" cy="685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1A5044C-B670-40FA-CD10-42240207EC6E}"/>
              </a:ext>
            </a:extLst>
          </p:cNvPr>
          <p:cNvSpPr txBox="1"/>
          <p:nvPr/>
        </p:nvSpPr>
        <p:spPr>
          <a:xfrm>
            <a:off x="5486400" y="42037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Ampliar técnicas MITRE ATT&amp;CK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DFD99CC-0157-40F0-A314-08EA80179309}"/>
              </a:ext>
            </a:extLst>
          </p:cNvPr>
          <p:cNvSpPr/>
          <p:nvPr/>
        </p:nvSpPr>
        <p:spPr>
          <a:xfrm>
            <a:off x="8483600" y="4114800"/>
            <a:ext cx="2870200" cy="685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4D80EFB-4AE0-690F-61D5-619966E62E06}"/>
              </a:ext>
            </a:extLst>
          </p:cNvPr>
          <p:cNvSpPr txBox="1"/>
          <p:nvPr/>
        </p:nvSpPr>
        <p:spPr>
          <a:xfrm>
            <a:off x="8636000" y="42037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Integración SIEM / SOC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F8BA9964-8A52-FD9D-6F02-05DCEE068A79}"/>
              </a:ext>
            </a:extLst>
          </p:cNvPr>
          <p:cNvSpPr/>
          <p:nvPr/>
        </p:nvSpPr>
        <p:spPr>
          <a:xfrm>
            <a:off x="5334000" y="5029200"/>
            <a:ext cx="2870200" cy="685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C4B380C-669B-5C9A-FEEB-3345B4D153B8}"/>
              </a:ext>
            </a:extLst>
          </p:cNvPr>
          <p:cNvSpPr txBox="1"/>
          <p:nvPr/>
        </p:nvSpPr>
        <p:spPr>
          <a:xfrm>
            <a:off x="5486400" y="51181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Despliegue multi-endpoint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74A69E42-9511-9A68-0D24-1F6803D0F6F9}"/>
              </a:ext>
            </a:extLst>
          </p:cNvPr>
          <p:cNvSpPr/>
          <p:nvPr/>
        </p:nvSpPr>
        <p:spPr>
          <a:xfrm>
            <a:off x="8483600" y="5029200"/>
            <a:ext cx="2870200" cy="685800"/>
          </a:xfrm>
          <a:prstGeom prst="roundRect">
            <a:avLst/>
          </a:prstGeom>
          <a:solidFill>
            <a:srgbClr val="102A3B"/>
          </a:solidFill>
          <a:ln w="12700">
            <a:solidFill>
              <a:srgbClr val="2A4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B6B45E9-F95C-8CD5-787C-D0F1109070DF}"/>
              </a:ext>
            </a:extLst>
          </p:cNvPr>
          <p:cNvSpPr txBox="1"/>
          <p:nvPr/>
        </p:nvSpPr>
        <p:spPr>
          <a:xfrm>
            <a:off x="8636000" y="51181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50" b="1">
                <a:solidFill>
                  <a:srgbClr val="F3F7F9"/>
                </a:solidFill>
                <a:latin typeface="Aptos" panose="020B0004020202020204" pitchFamily="34" charset="0"/>
              </a:rPr>
              <a:t>Reglas más robustas y refinadas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47B38AA-A55D-5D8D-5A39-F5F664D96AF8}"/>
              </a:ext>
            </a:extLst>
          </p:cNvPr>
          <p:cNvSpPr txBox="1"/>
          <p:nvPr/>
        </p:nvSpPr>
        <p:spPr>
          <a:xfrm>
            <a:off x="5334000" y="5969000"/>
            <a:ext cx="624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b="1">
                <a:solidFill>
                  <a:srgbClr val="35D0BA"/>
                </a:solidFill>
                <a:latin typeface="Aptos Display" panose="020B0004020202020204" pitchFamily="34" charset="0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3465332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Office PowerPoint</Application>
  <PresentationFormat>Personalizado</PresentationFormat>
  <Paragraphs>339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Bahnschrift</vt:lpstr>
      <vt:lpstr>Bahnschrift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GARCÍA-AMORENA REINA</dc:creator>
  <cp:lastModifiedBy>JULIO GARCÍA-AMORENA REINA</cp:lastModifiedBy>
  <cp:revision>1</cp:revision>
  <dcterms:created xsi:type="dcterms:W3CDTF">2026-09-02T07:55:32Z</dcterms:created>
  <dcterms:modified xsi:type="dcterms:W3CDTF">2026-09-02T07:55:32Z</dcterms:modified>
</cp:coreProperties>
</file>